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embeddedFontLst>
    <p:embeddedFont>
      <p:font typeface="Google Sans" panose="020B0604020202020204" charset="0"/>
      <p:regular r:id="rId19"/>
      <p:bold r:id="rId20"/>
      <p:italic r:id="rId21"/>
      <p:boldItalic r:id="rId22"/>
    </p:embeddedFont>
    <p:embeddedFont>
      <p:font typeface="Work Sans Light"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C5E86D-D78D-6E6D-5728-603ECC7C4C15}" v="10" dt="2026-09-09T18:11:07.735"/>
  </p1510:revLst>
</p1510:revInfo>
</file>

<file path=ppt/tableStyles.xml><?xml version="1.0" encoding="utf-8"?>
<a:tblStyleLst xmlns:a="http://schemas.openxmlformats.org/drawingml/2006/main" def="{4636CCBE-A578-41CF-8C69-76554D0E2443}">
  <a:tblStyle styleId="{4636CCBE-A578-41CF-8C69-76554D0E244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1.fntdata"/><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vado Julieta" userId="S::jusalvado@uade.edu.ar::021f77e7-bab5-4b47-8366-d08f4f9a9bb2" providerId="AD" clId="Web-{3576171A-5894-D207-7C0C-A2161D72EA0C}"/>
    <pc:docChg chg="modSld">
      <pc:chgData name="Salvado Julieta" userId="S::jusalvado@uade.edu.ar::021f77e7-bab5-4b47-8366-d08f4f9a9bb2" providerId="AD" clId="Web-{3576171A-5894-D207-7C0C-A2161D72EA0C}" dt="2026-08-24T13:34:10.157" v="1" actId="1076"/>
      <pc:docMkLst>
        <pc:docMk/>
      </pc:docMkLst>
      <pc:sldChg chg="modSp">
        <pc:chgData name="Salvado Julieta" userId="S::jusalvado@uade.edu.ar::021f77e7-bab5-4b47-8366-d08f4f9a9bb2" providerId="AD" clId="Web-{3576171A-5894-D207-7C0C-A2161D72EA0C}" dt="2026-08-24T13:34:10.157" v="1" actId="1076"/>
        <pc:sldMkLst>
          <pc:docMk/>
          <pc:sldMk cId="0" sldId="263"/>
        </pc:sldMkLst>
      </pc:sldChg>
    </pc:docChg>
  </pc:docChgLst>
  <pc:docChgLst>
    <pc:chgData name="FILA SANTIAGO" userId="S::sfila@uade.edu.ar::79c7e712-2bb4-43e3-9099-f12d943b9731" providerId="AD" clId="Web-{BFC5E86D-D78D-6E6D-5728-603ECC7C4C15}"/>
    <pc:docChg chg="modSld">
      <pc:chgData name="FILA SANTIAGO" userId="S::sfila@uade.edu.ar::79c7e712-2bb4-43e3-9099-f12d943b9731" providerId="AD" clId="Web-{BFC5E86D-D78D-6E6D-5728-603ECC7C4C15}" dt="2026-09-09T18:11:07.735" v="9" actId="1076"/>
      <pc:docMkLst>
        <pc:docMk/>
      </pc:docMkLst>
      <pc:sldChg chg="addSp delSp modSp">
        <pc:chgData name="FILA SANTIAGO" userId="S::sfila@uade.edu.ar::79c7e712-2bb4-43e3-9099-f12d943b9731" providerId="AD" clId="Web-{BFC5E86D-D78D-6E6D-5728-603ECC7C4C15}" dt="2026-09-09T18:11:07.735" v="9" actId="1076"/>
        <pc:sldMkLst>
          <pc:docMk/>
          <pc:sldMk cId="0" sldId="263"/>
        </pc:sldMkLst>
        <pc:picChg chg="add del mod">
          <ac:chgData name="FILA SANTIAGO" userId="S::sfila@uade.edu.ar::79c7e712-2bb4-43e3-9099-f12d943b9731" providerId="AD" clId="Web-{BFC5E86D-D78D-6E6D-5728-603ECC7C4C15}" dt="2026-09-09T18:09:54.344" v="5"/>
          <ac:picMkLst>
            <pc:docMk/>
            <pc:sldMk cId="0" sldId="263"/>
            <ac:picMk id="2" creationId="{AF7D24CB-E911-86B5-187D-143153B1BC08}"/>
          </ac:picMkLst>
        </pc:picChg>
        <pc:picChg chg="add mod">
          <ac:chgData name="FILA SANTIAGO" userId="S::sfila@uade.edu.ar::79c7e712-2bb4-43e3-9099-f12d943b9731" providerId="AD" clId="Web-{BFC5E86D-D78D-6E6D-5728-603ECC7C4C15}" dt="2026-09-09T18:11:07.735" v="9" actId="1076"/>
          <ac:picMkLst>
            <pc:docMk/>
            <pc:sldMk cId="0" sldId="263"/>
            <ac:picMk id="3" creationId="{0AD45387-CB40-78BB-226D-6541DE388FCC}"/>
          </ac:picMkLst>
        </pc:picChg>
        <pc:picChg chg="del">
          <ac:chgData name="FILA SANTIAGO" userId="S::sfila@uade.edu.ar::79c7e712-2bb4-43e3-9099-f12d943b9731" providerId="AD" clId="Web-{BFC5E86D-D78D-6E6D-5728-603ECC7C4C15}" dt="2026-09-09T18:09:14.031" v="0"/>
          <ac:picMkLst>
            <pc:docMk/>
            <pc:sldMk cId="0" sldId="263"/>
            <ac:picMk id="21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f995a8082e_12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f995a8082e_12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marR="0" lvl="0" algn="l">
              <a:lnSpc>
                <a:spcPct val="90000"/>
              </a:lnSpc>
              <a:spcBef>
                <a:spcPts val="0"/>
              </a:spcBef>
              <a:spcAft>
                <a:spcPts val="0"/>
              </a:spcAft>
              <a:buClr>
                <a:srgbClr val="00AEEF"/>
              </a:buClr>
              <a:buSzPts val="4400"/>
              <a:buFont typeface="Calibri"/>
              <a:buNone/>
              <a:defRPr sz="4400" b="1" cap="none">
                <a:solidFill>
                  <a:srgbClr val="00AEE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99355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7F7F7F"/>
              </a:buClr>
              <a:buSzPts val="3200"/>
              <a:buNone/>
              <a:defRPr sz="3200" b="1">
                <a:solidFill>
                  <a:srgbClr val="7F7F7F"/>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cxnSp>
        <p:nvCxnSpPr>
          <p:cNvPr id="17" name="Google Shape;17;p2"/>
          <p:cNvCxnSpPr/>
          <p:nvPr/>
        </p:nvCxnSpPr>
        <p:spPr>
          <a:xfrm>
            <a:off x="1524000" y="4214430"/>
            <a:ext cx="9144000" cy="0"/>
          </a:xfrm>
          <a:prstGeom prst="straightConnector1">
            <a:avLst/>
          </a:prstGeom>
          <a:noFill/>
          <a:ln w="19050" cap="flat" cmpd="sng">
            <a:solidFill>
              <a:srgbClr val="D0CECE"/>
            </a:solidFill>
            <a:prstDash val="solid"/>
            <a:miter lim="8000"/>
            <a:headEnd type="none" w="sm" len="sm"/>
            <a:tailEnd type="none" w="sm" len="sm"/>
          </a:ln>
        </p:spPr>
      </p:cxnSp>
      <p:pic>
        <p:nvPicPr>
          <p:cNvPr id="18" name="Google Shape;18;p2"/>
          <p:cNvPicPr preferRelativeResize="0"/>
          <p:nvPr/>
        </p:nvPicPr>
        <p:blipFill rotWithShape="1">
          <a:blip r:embed="rId2">
            <a:alphaModFix/>
          </a:blip>
          <a:srcRect/>
          <a:stretch/>
        </p:blipFill>
        <p:spPr>
          <a:xfrm>
            <a:off x="1524000" y="4663066"/>
            <a:ext cx="3310203" cy="81290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19"/>
        <p:cNvGrpSpPr/>
        <p:nvPr/>
      </p:nvGrpSpPr>
      <p:grpSpPr>
        <a:xfrm>
          <a:off x="0" y="0"/>
          <a:ext cx="0" cy="0"/>
          <a:chOff x="0" y="0"/>
          <a:chExt cx="0" cy="0"/>
        </a:xfrm>
      </p:grpSpPr>
      <p:sp>
        <p:nvSpPr>
          <p:cNvPr id="20" name="Google Shape;20;p3"/>
          <p:cNvSpPr txBox="1">
            <a:spLocks noGrp="1"/>
          </p:cNvSpPr>
          <p:nvPr>
            <p:ph type="body" idx="1"/>
          </p:nvPr>
        </p:nvSpPr>
        <p:spPr>
          <a:xfrm>
            <a:off x="838200" y="1281907"/>
            <a:ext cx="10515600" cy="5074422"/>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alibri"/>
                <a:ea typeface="Calibri"/>
                <a:cs typeface="Calibri"/>
                <a:sym typeface="Calibri"/>
              </a:defRPr>
            </a:lvl1pPr>
            <a:lvl2pPr marL="914400" lvl="1" indent="-381000" algn="l">
              <a:lnSpc>
                <a:spcPct val="90000"/>
              </a:lnSpc>
              <a:spcBef>
                <a:spcPts val="500"/>
              </a:spcBef>
              <a:spcAft>
                <a:spcPts val="0"/>
              </a:spcAft>
              <a:buClr>
                <a:schemeClr val="dk1"/>
              </a:buClr>
              <a:buSzPts val="2400"/>
              <a:buChar char="•"/>
              <a:defRPr>
                <a:latin typeface="Calibri"/>
                <a:ea typeface="Calibri"/>
                <a:cs typeface="Calibri"/>
                <a:sym typeface="Calibri"/>
              </a:defRPr>
            </a:lvl2pPr>
            <a:lvl3pPr marL="1371600" lvl="2" indent="-355600" algn="l">
              <a:lnSpc>
                <a:spcPct val="90000"/>
              </a:lnSpc>
              <a:spcBef>
                <a:spcPts val="500"/>
              </a:spcBef>
              <a:spcAft>
                <a:spcPts val="0"/>
              </a:spcAft>
              <a:buClr>
                <a:schemeClr val="dk1"/>
              </a:buClr>
              <a:buSzPts val="2000"/>
              <a:buChar char="•"/>
              <a:defRPr>
                <a:latin typeface="Calibri"/>
                <a:ea typeface="Calibri"/>
                <a:cs typeface="Calibri"/>
                <a:sym typeface="Calibri"/>
              </a:defRPr>
            </a:lvl3pPr>
            <a:lvl4pPr marL="1828800" lvl="3" indent="-342900" algn="l">
              <a:lnSpc>
                <a:spcPct val="90000"/>
              </a:lnSpc>
              <a:spcBef>
                <a:spcPts val="500"/>
              </a:spcBef>
              <a:spcAft>
                <a:spcPts val="0"/>
              </a:spcAft>
              <a:buClr>
                <a:schemeClr val="dk1"/>
              </a:buClr>
              <a:buSzPts val="1800"/>
              <a:buChar char="•"/>
              <a:defRPr>
                <a:latin typeface="Calibri"/>
                <a:ea typeface="Calibri"/>
                <a:cs typeface="Calibri"/>
                <a:sym typeface="Calibri"/>
              </a:defRPr>
            </a:lvl4pPr>
            <a:lvl5pPr marL="2286000" lvl="4" indent="-342900" algn="l">
              <a:lnSpc>
                <a:spcPct val="90000"/>
              </a:lnSpc>
              <a:spcBef>
                <a:spcPts val="500"/>
              </a:spcBef>
              <a:spcAft>
                <a:spcPts val="0"/>
              </a:spcAft>
              <a:buClr>
                <a:schemeClr val="dk1"/>
              </a:buClr>
              <a:buSzPts val="1800"/>
              <a:buChar char="•"/>
              <a:defRPr>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cxnSp>
        <p:nvCxnSpPr>
          <p:cNvPr id="24" name="Google Shape;24;p3"/>
          <p:cNvCxnSpPr/>
          <p:nvPr/>
        </p:nvCxnSpPr>
        <p:spPr>
          <a:xfrm>
            <a:off x="838200" y="1170057"/>
            <a:ext cx="10595919" cy="0"/>
          </a:xfrm>
          <a:prstGeom prst="straightConnector1">
            <a:avLst/>
          </a:prstGeom>
          <a:noFill/>
          <a:ln w="9525" cap="flat" cmpd="sng">
            <a:solidFill>
              <a:schemeClr val="dk1"/>
            </a:solidFill>
            <a:prstDash val="solid"/>
            <a:miter lim="8000"/>
            <a:headEnd type="none" w="sm" len="sm"/>
            <a:tailEnd type="none" w="sm" len="sm"/>
          </a:ln>
        </p:spPr>
      </p:cxnSp>
      <p:sp>
        <p:nvSpPr>
          <p:cNvPr id="25" name="Google Shape;25;p3"/>
          <p:cNvSpPr txBox="1">
            <a:spLocks noGrp="1"/>
          </p:cNvSpPr>
          <p:nvPr>
            <p:ph type="title"/>
          </p:nvPr>
        </p:nvSpPr>
        <p:spPr>
          <a:xfrm>
            <a:off x="695587" y="652941"/>
            <a:ext cx="10515600" cy="40526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AEEF"/>
              </a:buClr>
              <a:buSzPts val="4400"/>
              <a:buFont typeface="Calibri"/>
              <a:buNone/>
              <a:defRPr b="1">
                <a:solidFill>
                  <a:srgbClr val="00AEE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6" name="Google Shape;26;p3"/>
          <p:cNvPicPr preferRelativeResize="0"/>
          <p:nvPr/>
        </p:nvPicPr>
        <p:blipFill rotWithShape="1">
          <a:blip r:embed="rId2">
            <a:alphaModFix/>
          </a:blip>
          <a:srcRect/>
          <a:stretch/>
        </p:blipFill>
        <p:spPr>
          <a:xfrm>
            <a:off x="10552670" y="112787"/>
            <a:ext cx="1466335" cy="36009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AEEF"/>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AEEF"/>
              </a:buClr>
              <a:buSzPts val="6000"/>
              <a:buFont typeface="Calibri"/>
              <a:buNone/>
              <a:defRPr sz="6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Calibri"/>
                <a:ea typeface="Calibri"/>
                <a:cs typeface="Calibri"/>
                <a:sym typeface="Calibri"/>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AEEF"/>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alibri"/>
                <a:ea typeface="Calibri"/>
                <a:cs typeface="Calibri"/>
                <a:sym typeface="Calibri"/>
              </a:defRPr>
            </a:lvl1pPr>
            <a:lvl2pPr marL="914400" lvl="1" indent="-381000" algn="l">
              <a:lnSpc>
                <a:spcPct val="90000"/>
              </a:lnSpc>
              <a:spcBef>
                <a:spcPts val="500"/>
              </a:spcBef>
              <a:spcAft>
                <a:spcPts val="0"/>
              </a:spcAft>
              <a:buClr>
                <a:schemeClr val="dk1"/>
              </a:buClr>
              <a:buSzPts val="2400"/>
              <a:buChar char="•"/>
              <a:defRPr>
                <a:latin typeface="Calibri"/>
                <a:ea typeface="Calibri"/>
                <a:cs typeface="Calibri"/>
                <a:sym typeface="Calibri"/>
              </a:defRPr>
            </a:lvl2pPr>
            <a:lvl3pPr marL="1371600" lvl="2" indent="-355600" algn="l">
              <a:lnSpc>
                <a:spcPct val="90000"/>
              </a:lnSpc>
              <a:spcBef>
                <a:spcPts val="500"/>
              </a:spcBef>
              <a:spcAft>
                <a:spcPts val="0"/>
              </a:spcAft>
              <a:buClr>
                <a:schemeClr val="dk1"/>
              </a:buClr>
              <a:buSzPts val="2000"/>
              <a:buChar char="•"/>
              <a:defRPr>
                <a:latin typeface="Calibri"/>
                <a:ea typeface="Calibri"/>
                <a:cs typeface="Calibri"/>
                <a:sym typeface="Calibri"/>
              </a:defRPr>
            </a:lvl3pPr>
            <a:lvl4pPr marL="1828800" lvl="3" indent="-342900" algn="l">
              <a:lnSpc>
                <a:spcPct val="90000"/>
              </a:lnSpc>
              <a:spcBef>
                <a:spcPts val="500"/>
              </a:spcBef>
              <a:spcAft>
                <a:spcPts val="0"/>
              </a:spcAft>
              <a:buClr>
                <a:schemeClr val="dk1"/>
              </a:buClr>
              <a:buSzPts val="1800"/>
              <a:buChar char="•"/>
              <a:defRPr>
                <a:latin typeface="Calibri"/>
                <a:ea typeface="Calibri"/>
                <a:cs typeface="Calibri"/>
                <a:sym typeface="Calibri"/>
              </a:defRPr>
            </a:lvl4pPr>
            <a:lvl5pPr marL="2286000" lvl="4" indent="-342900" algn="l">
              <a:lnSpc>
                <a:spcPct val="90000"/>
              </a:lnSpc>
              <a:spcBef>
                <a:spcPts val="500"/>
              </a:spcBef>
              <a:spcAft>
                <a:spcPts val="0"/>
              </a:spcAft>
              <a:buClr>
                <a:schemeClr val="dk1"/>
              </a:buClr>
              <a:buSzPts val="1800"/>
              <a:buChar char="•"/>
              <a:defRPr>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alibri"/>
                <a:ea typeface="Calibri"/>
                <a:cs typeface="Calibri"/>
                <a:sym typeface="Calibri"/>
              </a:defRPr>
            </a:lvl1pPr>
            <a:lvl2pPr marL="914400" lvl="1" indent="-381000" algn="l">
              <a:lnSpc>
                <a:spcPct val="90000"/>
              </a:lnSpc>
              <a:spcBef>
                <a:spcPts val="500"/>
              </a:spcBef>
              <a:spcAft>
                <a:spcPts val="0"/>
              </a:spcAft>
              <a:buClr>
                <a:schemeClr val="dk1"/>
              </a:buClr>
              <a:buSzPts val="2400"/>
              <a:buChar char="•"/>
              <a:defRPr>
                <a:latin typeface="Calibri"/>
                <a:ea typeface="Calibri"/>
                <a:cs typeface="Calibri"/>
                <a:sym typeface="Calibri"/>
              </a:defRPr>
            </a:lvl2pPr>
            <a:lvl3pPr marL="1371600" lvl="2" indent="-355600" algn="l">
              <a:lnSpc>
                <a:spcPct val="90000"/>
              </a:lnSpc>
              <a:spcBef>
                <a:spcPts val="500"/>
              </a:spcBef>
              <a:spcAft>
                <a:spcPts val="0"/>
              </a:spcAft>
              <a:buClr>
                <a:schemeClr val="dk1"/>
              </a:buClr>
              <a:buSzPts val="2000"/>
              <a:buChar char="•"/>
              <a:defRPr>
                <a:latin typeface="Calibri"/>
                <a:ea typeface="Calibri"/>
                <a:cs typeface="Calibri"/>
                <a:sym typeface="Calibri"/>
              </a:defRPr>
            </a:lvl3pPr>
            <a:lvl4pPr marL="1828800" lvl="3" indent="-342900" algn="l">
              <a:lnSpc>
                <a:spcPct val="90000"/>
              </a:lnSpc>
              <a:spcBef>
                <a:spcPts val="500"/>
              </a:spcBef>
              <a:spcAft>
                <a:spcPts val="0"/>
              </a:spcAft>
              <a:buClr>
                <a:schemeClr val="dk1"/>
              </a:buClr>
              <a:buSzPts val="1800"/>
              <a:buChar char="•"/>
              <a:defRPr>
                <a:latin typeface="Calibri"/>
                <a:ea typeface="Calibri"/>
                <a:cs typeface="Calibri"/>
                <a:sym typeface="Calibri"/>
              </a:defRPr>
            </a:lvl4pPr>
            <a:lvl5pPr marL="2286000" lvl="4" indent="-342900" algn="l">
              <a:lnSpc>
                <a:spcPct val="90000"/>
              </a:lnSpc>
              <a:spcBef>
                <a:spcPts val="500"/>
              </a:spcBef>
              <a:spcAft>
                <a:spcPts val="0"/>
              </a:spcAft>
              <a:buClr>
                <a:schemeClr val="dk1"/>
              </a:buClr>
              <a:buSzPts val="1800"/>
              <a:buChar char="•"/>
              <a:defRPr>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AEEF"/>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alibri"/>
                <a:ea typeface="Calibri"/>
                <a:cs typeface="Calibri"/>
                <a:sym typeface="Calibri"/>
              </a:defRPr>
            </a:lvl1pPr>
            <a:lvl2pPr marL="914400" lvl="1" indent="-381000" algn="l">
              <a:lnSpc>
                <a:spcPct val="90000"/>
              </a:lnSpc>
              <a:spcBef>
                <a:spcPts val="500"/>
              </a:spcBef>
              <a:spcAft>
                <a:spcPts val="0"/>
              </a:spcAft>
              <a:buClr>
                <a:schemeClr val="dk1"/>
              </a:buClr>
              <a:buSzPts val="2400"/>
              <a:buChar char="•"/>
              <a:defRPr>
                <a:latin typeface="Calibri"/>
                <a:ea typeface="Calibri"/>
                <a:cs typeface="Calibri"/>
                <a:sym typeface="Calibri"/>
              </a:defRPr>
            </a:lvl2pPr>
            <a:lvl3pPr marL="1371600" lvl="2" indent="-355600" algn="l">
              <a:lnSpc>
                <a:spcPct val="90000"/>
              </a:lnSpc>
              <a:spcBef>
                <a:spcPts val="500"/>
              </a:spcBef>
              <a:spcAft>
                <a:spcPts val="0"/>
              </a:spcAft>
              <a:buClr>
                <a:schemeClr val="dk1"/>
              </a:buClr>
              <a:buSzPts val="2000"/>
              <a:buChar char="•"/>
              <a:defRPr>
                <a:latin typeface="Calibri"/>
                <a:ea typeface="Calibri"/>
                <a:cs typeface="Calibri"/>
                <a:sym typeface="Calibri"/>
              </a:defRPr>
            </a:lvl3pPr>
            <a:lvl4pPr marL="1828800" lvl="3" indent="-342900" algn="l">
              <a:lnSpc>
                <a:spcPct val="90000"/>
              </a:lnSpc>
              <a:spcBef>
                <a:spcPts val="500"/>
              </a:spcBef>
              <a:spcAft>
                <a:spcPts val="0"/>
              </a:spcAft>
              <a:buClr>
                <a:schemeClr val="dk1"/>
              </a:buClr>
              <a:buSzPts val="1800"/>
              <a:buChar char="•"/>
              <a:defRPr>
                <a:latin typeface="Calibri"/>
                <a:ea typeface="Calibri"/>
                <a:cs typeface="Calibri"/>
                <a:sym typeface="Calibri"/>
              </a:defRPr>
            </a:lvl4pPr>
            <a:lvl5pPr marL="2286000" lvl="4" indent="-342900" algn="l">
              <a:lnSpc>
                <a:spcPct val="90000"/>
              </a:lnSpc>
              <a:spcBef>
                <a:spcPts val="500"/>
              </a:spcBef>
              <a:spcAft>
                <a:spcPts val="0"/>
              </a:spcAft>
              <a:buClr>
                <a:schemeClr val="dk1"/>
              </a:buClr>
              <a:buSzPts val="1800"/>
              <a:buChar char="•"/>
              <a:defRPr>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alibri"/>
                <a:ea typeface="Calibri"/>
                <a:cs typeface="Calibri"/>
                <a:sym typeface="Calibri"/>
              </a:defRPr>
            </a:lvl1pPr>
            <a:lvl2pPr marL="914400" lvl="1" indent="-381000" algn="l">
              <a:lnSpc>
                <a:spcPct val="90000"/>
              </a:lnSpc>
              <a:spcBef>
                <a:spcPts val="500"/>
              </a:spcBef>
              <a:spcAft>
                <a:spcPts val="0"/>
              </a:spcAft>
              <a:buClr>
                <a:schemeClr val="dk1"/>
              </a:buClr>
              <a:buSzPts val="2400"/>
              <a:buChar char="•"/>
              <a:defRPr>
                <a:latin typeface="Calibri"/>
                <a:ea typeface="Calibri"/>
                <a:cs typeface="Calibri"/>
                <a:sym typeface="Calibri"/>
              </a:defRPr>
            </a:lvl2pPr>
            <a:lvl3pPr marL="1371600" lvl="2" indent="-355600" algn="l">
              <a:lnSpc>
                <a:spcPct val="90000"/>
              </a:lnSpc>
              <a:spcBef>
                <a:spcPts val="500"/>
              </a:spcBef>
              <a:spcAft>
                <a:spcPts val="0"/>
              </a:spcAft>
              <a:buClr>
                <a:schemeClr val="dk1"/>
              </a:buClr>
              <a:buSzPts val="2000"/>
              <a:buChar char="•"/>
              <a:defRPr>
                <a:latin typeface="Calibri"/>
                <a:ea typeface="Calibri"/>
                <a:cs typeface="Calibri"/>
                <a:sym typeface="Calibri"/>
              </a:defRPr>
            </a:lvl3pPr>
            <a:lvl4pPr marL="1828800" lvl="3" indent="-342900" algn="l">
              <a:lnSpc>
                <a:spcPct val="90000"/>
              </a:lnSpc>
              <a:spcBef>
                <a:spcPts val="500"/>
              </a:spcBef>
              <a:spcAft>
                <a:spcPts val="0"/>
              </a:spcAft>
              <a:buClr>
                <a:schemeClr val="dk1"/>
              </a:buClr>
              <a:buSzPts val="1800"/>
              <a:buChar char="•"/>
              <a:defRPr>
                <a:latin typeface="Calibri"/>
                <a:ea typeface="Calibri"/>
                <a:cs typeface="Calibri"/>
                <a:sym typeface="Calibri"/>
              </a:defRPr>
            </a:lvl4pPr>
            <a:lvl5pPr marL="2286000" lvl="4" indent="-342900" algn="l">
              <a:lnSpc>
                <a:spcPct val="90000"/>
              </a:lnSpc>
              <a:spcBef>
                <a:spcPts val="500"/>
              </a:spcBef>
              <a:spcAft>
                <a:spcPts val="0"/>
              </a:spcAft>
              <a:buClr>
                <a:schemeClr val="dk1"/>
              </a:buClr>
              <a:buSzPts val="1800"/>
              <a:buChar char="•"/>
              <a:defRPr>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AEEF"/>
              </a:buClr>
              <a:buSzPts val="3200"/>
              <a:buFont typeface="Calibri"/>
              <a:buNone/>
              <a:defRPr sz="32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Calibri"/>
                <a:ea typeface="Calibri"/>
                <a:cs typeface="Calibri"/>
                <a:sym typeface="Calibri"/>
              </a:defRPr>
            </a:lvl1pPr>
            <a:lvl2pPr marL="914400" lvl="1" indent="-406400" algn="l">
              <a:lnSpc>
                <a:spcPct val="90000"/>
              </a:lnSpc>
              <a:spcBef>
                <a:spcPts val="500"/>
              </a:spcBef>
              <a:spcAft>
                <a:spcPts val="0"/>
              </a:spcAft>
              <a:buClr>
                <a:schemeClr val="dk1"/>
              </a:buClr>
              <a:buSzPts val="2800"/>
              <a:buChar char="•"/>
              <a:defRPr sz="2800">
                <a:latin typeface="Calibri"/>
                <a:ea typeface="Calibri"/>
                <a:cs typeface="Calibri"/>
                <a:sym typeface="Calibri"/>
              </a:defRPr>
            </a:lvl2pPr>
            <a:lvl3pPr marL="1371600" lvl="2" indent="-381000" algn="l">
              <a:lnSpc>
                <a:spcPct val="90000"/>
              </a:lnSpc>
              <a:spcBef>
                <a:spcPts val="500"/>
              </a:spcBef>
              <a:spcAft>
                <a:spcPts val="0"/>
              </a:spcAft>
              <a:buClr>
                <a:schemeClr val="dk1"/>
              </a:buClr>
              <a:buSzPts val="2400"/>
              <a:buChar char="•"/>
              <a:defRPr sz="2400">
                <a:latin typeface="Calibri"/>
                <a:ea typeface="Calibri"/>
                <a:cs typeface="Calibri"/>
                <a:sym typeface="Calibri"/>
              </a:defRPr>
            </a:lvl3pPr>
            <a:lvl4pPr marL="1828800" lvl="3" indent="-355600" algn="l">
              <a:lnSpc>
                <a:spcPct val="90000"/>
              </a:lnSpc>
              <a:spcBef>
                <a:spcPts val="500"/>
              </a:spcBef>
              <a:spcAft>
                <a:spcPts val="0"/>
              </a:spcAft>
              <a:buClr>
                <a:schemeClr val="dk1"/>
              </a:buClr>
              <a:buSzPts val="2000"/>
              <a:buChar char="•"/>
              <a:defRPr sz="2000">
                <a:latin typeface="Calibri"/>
                <a:ea typeface="Calibri"/>
                <a:cs typeface="Calibri"/>
                <a:sym typeface="Calibri"/>
              </a:defRPr>
            </a:lvl4pPr>
            <a:lvl5pPr marL="2286000" lvl="4" indent="-355600" algn="l">
              <a:lnSpc>
                <a:spcPct val="90000"/>
              </a:lnSpc>
              <a:spcBef>
                <a:spcPts val="500"/>
              </a:spcBef>
              <a:spcAft>
                <a:spcPts val="0"/>
              </a:spcAft>
              <a:buClr>
                <a:schemeClr val="dk1"/>
              </a:buClr>
              <a:buSzPts val="2000"/>
              <a:buChar char="•"/>
              <a:defRPr sz="2000">
                <a:latin typeface="Calibri"/>
                <a:ea typeface="Calibri"/>
                <a:cs typeface="Calibri"/>
                <a:sym typeface="Calibri"/>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AEEF"/>
              </a:buClr>
              <a:buSzPts val="3200"/>
              <a:buFont typeface="Calibri"/>
              <a:buNone/>
              <a:defRPr sz="32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AEEF"/>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alibri"/>
                <a:ea typeface="Calibri"/>
                <a:cs typeface="Calibri"/>
                <a:sym typeface="Calibri"/>
              </a:defRPr>
            </a:lvl1pPr>
            <a:lvl2pPr marL="914400" lvl="1" indent="-381000" algn="l">
              <a:lnSpc>
                <a:spcPct val="90000"/>
              </a:lnSpc>
              <a:spcBef>
                <a:spcPts val="500"/>
              </a:spcBef>
              <a:spcAft>
                <a:spcPts val="0"/>
              </a:spcAft>
              <a:buClr>
                <a:schemeClr val="dk1"/>
              </a:buClr>
              <a:buSzPts val="2400"/>
              <a:buChar char="•"/>
              <a:defRPr>
                <a:latin typeface="Calibri"/>
                <a:ea typeface="Calibri"/>
                <a:cs typeface="Calibri"/>
                <a:sym typeface="Calibri"/>
              </a:defRPr>
            </a:lvl2pPr>
            <a:lvl3pPr marL="1371600" lvl="2" indent="-355600" algn="l">
              <a:lnSpc>
                <a:spcPct val="90000"/>
              </a:lnSpc>
              <a:spcBef>
                <a:spcPts val="500"/>
              </a:spcBef>
              <a:spcAft>
                <a:spcPts val="0"/>
              </a:spcAft>
              <a:buClr>
                <a:schemeClr val="dk1"/>
              </a:buClr>
              <a:buSzPts val="2000"/>
              <a:buChar char="•"/>
              <a:defRPr>
                <a:latin typeface="Calibri"/>
                <a:ea typeface="Calibri"/>
                <a:cs typeface="Calibri"/>
                <a:sym typeface="Calibri"/>
              </a:defRPr>
            </a:lvl3pPr>
            <a:lvl4pPr marL="1828800" lvl="3" indent="-342900" algn="l">
              <a:lnSpc>
                <a:spcPct val="90000"/>
              </a:lnSpc>
              <a:spcBef>
                <a:spcPts val="500"/>
              </a:spcBef>
              <a:spcAft>
                <a:spcPts val="0"/>
              </a:spcAft>
              <a:buClr>
                <a:schemeClr val="dk1"/>
              </a:buClr>
              <a:buSzPts val="1800"/>
              <a:buChar char="•"/>
              <a:defRPr>
                <a:latin typeface="Calibri"/>
                <a:ea typeface="Calibri"/>
                <a:cs typeface="Calibri"/>
                <a:sym typeface="Calibri"/>
              </a:defRPr>
            </a:lvl4pPr>
            <a:lvl5pPr marL="2286000" lvl="4" indent="-342900" algn="l">
              <a:lnSpc>
                <a:spcPct val="90000"/>
              </a:lnSpc>
              <a:spcBef>
                <a:spcPts val="500"/>
              </a:spcBef>
              <a:spcAft>
                <a:spcPts val="0"/>
              </a:spcAft>
              <a:buClr>
                <a:schemeClr val="dk1"/>
              </a:buClr>
              <a:buSzPts val="1800"/>
              <a:buChar char="•"/>
              <a:defRPr>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AEEF"/>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alibri"/>
                <a:ea typeface="Calibri"/>
                <a:cs typeface="Calibri"/>
                <a:sym typeface="Calibri"/>
              </a:defRPr>
            </a:lvl1pPr>
            <a:lvl2pPr marL="914400" lvl="1" indent="-381000" algn="l">
              <a:lnSpc>
                <a:spcPct val="90000"/>
              </a:lnSpc>
              <a:spcBef>
                <a:spcPts val="500"/>
              </a:spcBef>
              <a:spcAft>
                <a:spcPts val="0"/>
              </a:spcAft>
              <a:buClr>
                <a:schemeClr val="dk1"/>
              </a:buClr>
              <a:buSzPts val="2400"/>
              <a:buChar char="•"/>
              <a:defRPr>
                <a:latin typeface="Calibri"/>
                <a:ea typeface="Calibri"/>
                <a:cs typeface="Calibri"/>
                <a:sym typeface="Calibri"/>
              </a:defRPr>
            </a:lvl2pPr>
            <a:lvl3pPr marL="1371600" lvl="2" indent="-355600" algn="l">
              <a:lnSpc>
                <a:spcPct val="90000"/>
              </a:lnSpc>
              <a:spcBef>
                <a:spcPts val="500"/>
              </a:spcBef>
              <a:spcAft>
                <a:spcPts val="0"/>
              </a:spcAft>
              <a:buClr>
                <a:schemeClr val="dk1"/>
              </a:buClr>
              <a:buSzPts val="2000"/>
              <a:buChar char="•"/>
              <a:defRPr>
                <a:latin typeface="Calibri"/>
                <a:ea typeface="Calibri"/>
                <a:cs typeface="Calibri"/>
                <a:sym typeface="Calibri"/>
              </a:defRPr>
            </a:lvl3pPr>
            <a:lvl4pPr marL="1828800" lvl="3" indent="-342900" algn="l">
              <a:lnSpc>
                <a:spcPct val="90000"/>
              </a:lnSpc>
              <a:spcBef>
                <a:spcPts val="500"/>
              </a:spcBef>
              <a:spcAft>
                <a:spcPts val="0"/>
              </a:spcAft>
              <a:buClr>
                <a:schemeClr val="dk1"/>
              </a:buClr>
              <a:buSzPts val="1800"/>
              <a:buChar char="•"/>
              <a:defRPr>
                <a:latin typeface="Calibri"/>
                <a:ea typeface="Calibri"/>
                <a:cs typeface="Calibri"/>
                <a:sym typeface="Calibri"/>
              </a:defRPr>
            </a:lvl4pPr>
            <a:lvl5pPr marL="2286000" lvl="4" indent="-342900" algn="l">
              <a:lnSpc>
                <a:spcPct val="90000"/>
              </a:lnSpc>
              <a:spcBef>
                <a:spcPts val="500"/>
              </a:spcBef>
              <a:spcAft>
                <a:spcPts val="0"/>
              </a:spcAft>
              <a:buClr>
                <a:schemeClr val="dk1"/>
              </a:buClr>
              <a:buSzPts val="1800"/>
              <a:buChar char="•"/>
              <a:defRPr>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AEEF"/>
              </a:buClr>
              <a:buSzPts val="4400"/>
              <a:buFont typeface="Calibri"/>
              <a:buNone/>
              <a:defRPr sz="4400" b="0" i="0" u="none" strike="noStrike" cap="none">
                <a:solidFill>
                  <a:srgbClr val="00AEE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524000" y="1097963"/>
            <a:ext cx="9144000" cy="23877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rgbClr val="00AEEF"/>
              </a:buClr>
              <a:buSzPts val="4400"/>
              <a:buFont typeface="Calibri"/>
              <a:buNone/>
            </a:pPr>
            <a:r>
              <a:rPr lang="es-AR" sz="7900">
                <a:solidFill>
                  <a:srgbClr val="0231B3"/>
                </a:solidFill>
              </a:rPr>
              <a:t>SEMBRAR CANTANDO</a:t>
            </a:r>
            <a:endParaRPr sz="6700">
              <a:solidFill>
                <a:srgbClr val="0231B3"/>
              </a:solidFill>
            </a:endParaRPr>
          </a:p>
        </p:txBody>
      </p:sp>
      <p:sp>
        <p:nvSpPr>
          <p:cNvPr id="89" name="Google Shape;89;p13"/>
          <p:cNvSpPr txBox="1"/>
          <p:nvPr/>
        </p:nvSpPr>
        <p:spPr>
          <a:xfrm>
            <a:off x="6304100" y="365900"/>
            <a:ext cx="4826400" cy="615600"/>
          </a:xfrm>
          <a:prstGeom prst="rect">
            <a:avLst/>
          </a:prstGeom>
          <a:noFill/>
          <a:ln>
            <a:noFill/>
          </a:ln>
        </p:spPr>
        <p:txBody>
          <a:bodyPr spcFirstLastPara="1" wrap="square" lIns="91425" tIns="91425" rIns="91425" bIns="91425" anchor="b" anchorCtr="0">
            <a:spAutoFit/>
          </a:bodyPr>
          <a:lstStyle/>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90" name="Google Shape;90;p13"/>
          <p:cNvSpPr/>
          <p:nvPr/>
        </p:nvSpPr>
        <p:spPr>
          <a:xfrm>
            <a:off x="1168350" y="4406650"/>
            <a:ext cx="4164600" cy="12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91" name="Google Shape;91;p13"/>
          <p:cNvSpPr txBox="1">
            <a:spLocks noGrp="1"/>
          </p:cNvSpPr>
          <p:nvPr>
            <p:ph type="subTitle" idx="1"/>
          </p:nvPr>
        </p:nvSpPr>
        <p:spPr>
          <a:xfrm>
            <a:off x="1524000" y="3485663"/>
            <a:ext cx="9144000" cy="9936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F7F7F"/>
              </a:buClr>
              <a:buSzPts val="3600"/>
              <a:buNone/>
            </a:pPr>
            <a:r>
              <a:rPr lang="es-AR" sz="3600"/>
              <a:t>RELEVAMIENTO INICIAL</a:t>
            </a:r>
            <a:endParaRPr/>
          </a:p>
        </p:txBody>
      </p:sp>
      <p:sp>
        <p:nvSpPr>
          <p:cNvPr id="92" name="Google Shape;92;p13"/>
          <p:cNvSpPr txBox="1">
            <a:spLocks noGrp="1"/>
          </p:cNvSpPr>
          <p:nvPr>
            <p:ph type="subTitle" idx="1"/>
          </p:nvPr>
        </p:nvSpPr>
        <p:spPr>
          <a:xfrm>
            <a:off x="1524000" y="4205338"/>
            <a:ext cx="9144000" cy="9936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F7F7F"/>
              </a:buClr>
              <a:buSzPts val="3600"/>
              <a:buNone/>
            </a:pPr>
            <a:r>
              <a:rPr lang="es-AR" sz="3600"/>
              <a:t>AGOSTO 2026</a:t>
            </a:r>
            <a:endParaRPr/>
          </a:p>
        </p:txBody>
      </p:sp>
      <p:sp>
        <p:nvSpPr>
          <p:cNvPr id="93" name="Google Shape;93;p13"/>
          <p:cNvSpPr txBox="1">
            <a:spLocks noGrp="1"/>
          </p:cNvSpPr>
          <p:nvPr>
            <p:ph type="ctrTitle"/>
          </p:nvPr>
        </p:nvSpPr>
        <p:spPr>
          <a:xfrm>
            <a:off x="1524000" y="4711743"/>
            <a:ext cx="3453300" cy="9147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rgbClr val="00AEEF"/>
              </a:buClr>
              <a:buSzPts val="4400"/>
              <a:buFont typeface="Calibri"/>
              <a:buNone/>
            </a:pPr>
            <a:r>
              <a:rPr lang="es-AR" sz="5900">
                <a:solidFill>
                  <a:srgbClr val="0231B3"/>
                </a:solidFill>
              </a:rPr>
              <a:t>GRUPO 02</a:t>
            </a:r>
            <a:endParaRPr sz="4700">
              <a:solidFill>
                <a:srgbClr val="0231B3"/>
              </a:solidFill>
            </a:endParaRPr>
          </a:p>
        </p:txBody>
      </p:sp>
      <p:pic>
        <p:nvPicPr>
          <p:cNvPr id="94" name="Google Shape;94;p13" title="Captura de pantalla 2026-08-09 a la(s) 6.17.13 p. m..png"/>
          <p:cNvPicPr preferRelativeResize="0"/>
          <p:nvPr/>
        </p:nvPicPr>
        <p:blipFill>
          <a:blip r:embed="rId3">
            <a:alphaModFix/>
          </a:blip>
          <a:stretch>
            <a:fillRect/>
          </a:stretch>
        </p:blipFill>
        <p:spPr>
          <a:xfrm>
            <a:off x="7334150" y="1206175"/>
            <a:ext cx="3712650" cy="4320175"/>
          </a:xfrm>
          <a:prstGeom prst="rect">
            <a:avLst/>
          </a:prstGeom>
          <a:noFill/>
          <a:ln>
            <a:noFill/>
          </a:ln>
        </p:spPr>
      </p:pic>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p:nvPr/>
        </p:nvSpPr>
        <p:spPr>
          <a:xfrm>
            <a:off x="3059169" y="5190085"/>
            <a:ext cx="530915" cy="369332"/>
          </a:xfrm>
          <a:prstGeom prst="rect">
            <a:avLst/>
          </a:prstGeom>
          <a:noFill/>
          <a:ln>
            <a:noFill/>
          </a:ln>
        </p:spPr>
        <p:txBody>
          <a:bodyPr spcFirstLastPara="1" wrap="square" lIns="91425" tIns="45700" rIns="91425" bIns="45700" anchor="t" anchorCtr="0">
            <a:noAutofit/>
          </a:bodyPr>
          <a:lstStyle/>
          <a:p>
            <a:pPr marL="342900" marR="0" lvl="0" indent="-228600" algn="l" rtl="0">
              <a:spcBef>
                <a:spcPts val="0"/>
              </a:spcBef>
              <a:spcAft>
                <a:spcPts val="0"/>
              </a:spcAft>
              <a:buClr>
                <a:schemeClr val="dk1"/>
              </a:buClr>
              <a:buSzPts val="1800"/>
              <a:buFont typeface="Noto Sans Symbols"/>
              <a:buNone/>
            </a:pPr>
            <a:endParaRPr sz="1800" b="0" i="0" u="none" strike="noStrike" cap="none">
              <a:solidFill>
                <a:srgbClr val="2E75B5"/>
              </a:solidFill>
              <a:latin typeface="Arial"/>
              <a:ea typeface="Arial"/>
              <a:cs typeface="Arial"/>
              <a:sym typeface="Arial"/>
            </a:endParaRPr>
          </a:p>
        </p:txBody>
      </p:sp>
      <p:pic>
        <p:nvPicPr>
          <p:cNvPr id="100" name="Google Shape;100;p14" descr="Imagen de la pantalla de un video juego con letras&#10;&#10;Descripción generada automáticamente con confianza baja"/>
          <p:cNvPicPr preferRelativeResize="0"/>
          <p:nvPr/>
        </p:nvPicPr>
        <p:blipFill rotWithShape="1">
          <a:blip r:embed="rId3">
            <a:alphaModFix/>
          </a:blip>
          <a:srcRect b="52040"/>
          <a:stretch/>
        </p:blipFill>
        <p:spPr>
          <a:xfrm>
            <a:off x="920721" y="2915080"/>
            <a:ext cx="4628939" cy="2619249"/>
          </a:xfrm>
          <a:prstGeom prst="rect">
            <a:avLst/>
          </a:prstGeom>
          <a:noFill/>
          <a:ln>
            <a:noFill/>
          </a:ln>
        </p:spPr>
      </p:pic>
      <p:sp>
        <p:nvSpPr>
          <p:cNvPr id="101" name="Google Shape;101;p14"/>
          <p:cNvSpPr txBox="1"/>
          <p:nvPr/>
        </p:nvSpPr>
        <p:spPr>
          <a:xfrm>
            <a:off x="1585958" y="3173372"/>
            <a:ext cx="3051339" cy="641573"/>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accent2"/>
              </a:buClr>
              <a:buSzPts val="2800"/>
              <a:buFont typeface="Noto Sans Symbols"/>
              <a:buNone/>
            </a:pPr>
            <a:r>
              <a:rPr lang="es-AR" sz="2800" b="0" i="0" u="none" strike="noStrike" cap="none">
                <a:solidFill>
                  <a:schemeClr val="dk1"/>
                </a:solidFill>
                <a:latin typeface="Calibri"/>
                <a:ea typeface="Calibri"/>
                <a:cs typeface="Calibri"/>
                <a:sym typeface="Calibri"/>
              </a:rPr>
              <a:t>Sector</a:t>
            </a:r>
            <a:endParaRPr sz="1800" b="0" i="0" u="none" strike="noStrike" cap="none">
              <a:solidFill>
                <a:schemeClr val="dk1"/>
              </a:solidFill>
              <a:latin typeface="Calibri"/>
              <a:ea typeface="Calibri"/>
              <a:cs typeface="Calibri"/>
              <a:sym typeface="Calibri"/>
            </a:endParaRPr>
          </a:p>
          <a:p>
            <a:pPr marL="0" marR="0" lvl="0" indent="0" algn="just" rtl="0">
              <a:lnSpc>
                <a:spcPct val="90000"/>
              </a:lnSpc>
              <a:spcBef>
                <a:spcPts val="1800"/>
              </a:spcBef>
              <a:spcAft>
                <a:spcPts val="0"/>
              </a:spcAft>
              <a:buClr>
                <a:schemeClr val="accent2"/>
              </a:buClr>
              <a:buSzPts val="1800"/>
              <a:buFont typeface="Noto Sans Symbols"/>
              <a:buNone/>
            </a:pPr>
            <a:endParaRPr sz="1800" b="0" i="0" u="none" strike="noStrike" cap="none">
              <a:solidFill>
                <a:schemeClr val="dk1"/>
              </a:solidFill>
              <a:latin typeface="Calibri"/>
              <a:ea typeface="Calibri"/>
              <a:cs typeface="Calibri"/>
              <a:sym typeface="Calibri"/>
            </a:endParaRPr>
          </a:p>
        </p:txBody>
      </p:sp>
      <p:sp>
        <p:nvSpPr>
          <p:cNvPr id="102" name="Google Shape;102;p14"/>
          <p:cNvSpPr txBox="1"/>
          <p:nvPr/>
        </p:nvSpPr>
        <p:spPr>
          <a:xfrm>
            <a:off x="1627293" y="3994471"/>
            <a:ext cx="3362838" cy="641573"/>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accent2"/>
              </a:buClr>
              <a:buSzPts val="2800"/>
              <a:buFont typeface="Noto Sans Symbols"/>
              <a:buNone/>
            </a:pPr>
            <a:r>
              <a:rPr lang="es-AR" sz="2800" b="0" i="0" u="none" strike="noStrike" cap="none">
                <a:solidFill>
                  <a:schemeClr val="dk1"/>
                </a:solidFill>
                <a:latin typeface="Calibri"/>
                <a:ea typeface="Calibri"/>
                <a:cs typeface="Calibri"/>
                <a:sym typeface="Calibri"/>
              </a:rPr>
              <a:t>Propiedad del capital</a:t>
            </a:r>
            <a:endParaRPr sz="1800" b="0" i="0" u="none" strike="noStrike" cap="none">
              <a:solidFill>
                <a:schemeClr val="dk1"/>
              </a:solidFill>
              <a:latin typeface="Calibri"/>
              <a:ea typeface="Calibri"/>
              <a:cs typeface="Calibri"/>
              <a:sym typeface="Calibri"/>
            </a:endParaRPr>
          </a:p>
          <a:p>
            <a:pPr marL="0" marR="0" lvl="0" indent="0" algn="just" rtl="0">
              <a:lnSpc>
                <a:spcPct val="90000"/>
              </a:lnSpc>
              <a:spcBef>
                <a:spcPts val="1800"/>
              </a:spcBef>
              <a:spcAft>
                <a:spcPts val="0"/>
              </a:spcAft>
              <a:buClr>
                <a:schemeClr val="accent2"/>
              </a:buClr>
              <a:buSzPts val="1800"/>
              <a:buFont typeface="Noto Sans Symbols"/>
              <a:buNone/>
            </a:pPr>
            <a:endParaRPr sz="1800" b="0" i="0" u="none" strike="noStrike" cap="none">
              <a:solidFill>
                <a:schemeClr val="dk1"/>
              </a:solidFill>
              <a:latin typeface="Calibri"/>
              <a:ea typeface="Calibri"/>
              <a:cs typeface="Calibri"/>
              <a:sym typeface="Calibri"/>
            </a:endParaRPr>
          </a:p>
        </p:txBody>
      </p:sp>
      <p:sp>
        <p:nvSpPr>
          <p:cNvPr id="103" name="Google Shape;103;p14"/>
          <p:cNvSpPr txBox="1"/>
          <p:nvPr/>
        </p:nvSpPr>
        <p:spPr>
          <a:xfrm>
            <a:off x="1835121" y="4941921"/>
            <a:ext cx="2317810" cy="641573"/>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accent2"/>
              </a:buClr>
              <a:buSzPts val="2800"/>
              <a:buFont typeface="Noto Sans Symbols"/>
              <a:buNone/>
            </a:pPr>
            <a:r>
              <a:rPr lang="es-AR" sz="2800" b="0" i="0" u="none" strike="noStrike" cap="none">
                <a:solidFill>
                  <a:schemeClr val="dk1"/>
                </a:solidFill>
                <a:latin typeface="Calibri"/>
                <a:ea typeface="Calibri"/>
                <a:cs typeface="Calibri"/>
                <a:sym typeface="Calibri"/>
              </a:rPr>
              <a:t>Geográfica</a:t>
            </a:r>
            <a:endParaRPr sz="1800" b="0" i="0" u="none" strike="noStrike" cap="none">
              <a:solidFill>
                <a:schemeClr val="dk1"/>
              </a:solidFill>
              <a:latin typeface="Calibri"/>
              <a:ea typeface="Calibri"/>
              <a:cs typeface="Calibri"/>
              <a:sym typeface="Calibri"/>
            </a:endParaRPr>
          </a:p>
          <a:p>
            <a:pPr marL="0" marR="0" lvl="0" indent="0" algn="just" rtl="0">
              <a:lnSpc>
                <a:spcPct val="90000"/>
              </a:lnSpc>
              <a:spcBef>
                <a:spcPts val="1800"/>
              </a:spcBef>
              <a:spcAft>
                <a:spcPts val="0"/>
              </a:spcAft>
              <a:buClr>
                <a:schemeClr val="accent2"/>
              </a:buClr>
              <a:buSzPts val="1800"/>
              <a:buFont typeface="Noto Sans Symbols"/>
              <a:buNone/>
            </a:pPr>
            <a:endParaRPr sz="1800" b="0" i="0" u="none" strike="noStrike" cap="none">
              <a:solidFill>
                <a:schemeClr val="dk1"/>
              </a:solidFill>
              <a:latin typeface="Calibri"/>
              <a:ea typeface="Calibri"/>
              <a:cs typeface="Calibri"/>
              <a:sym typeface="Calibri"/>
            </a:endParaRPr>
          </a:p>
        </p:txBody>
      </p:sp>
      <p:sp>
        <p:nvSpPr>
          <p:cNvPr id="104" name="Google Shape;104;p14"/>
          <p:cNvSpPr/>
          <p:nvPr/>
        </p:nvSpPr>
        <p:spPr>
          <a:xfrm>
            <a:off x="920721" y="5630016"/>
            <a:ext cx="4156666" cy="633118"/>
          </a:xfrm>
          <a:prstGeom prst="rect">
            <a:avLst/>
          </a:prstGeom>
          <a:solidFill>
            <a:schemeClr val="accent1"/>
          </a:solidFill>
          <a:ln w="12700" cap="flat" cmpd="sng">
            <a:solidFill>
              <a:srgbClr val="42719B"/>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2800" b="0" i="0" u="none" strike="noStrike" cap="none">
                <a:solidFill>
                  <a:schemeClr val="dk1"/>
                </a:solidFill>
                <a:latin typeface="Calibri"/>
                <a:ea typeface="Calibri"/>
                <a:cs typeface="Calibri"/>
                <a:sym typeface="Calibri"/>
              </a:rPr>
              <a:t>Tamaño</a:t>
            </a:r>
            <a:endParaRPr/>
          </a:p>
        </p:txBody>
      </p:sp>
      <p:sp>
        <p:nvSpPr>
          <p:cNvPr id="105" name="Google Shape;105;p14"/>
          <p:cNvSpPr/>
          <p:nvPr/>
        </p:nvSpPr>
        <p:spPr>
          <a:xfrm>
            <a:off x="920721" y="5630016"/>
            <a:ext cx="914400" cy="586596"/>
          </a:xfrm>
          <a:prstGeom prst="rect">
            <a:avLst/>
          </a:prstGeom>
          <a:solidFill>
            <a:schemeClr val="accent1"/>
          </a:solidFill>
          <a:ln w="12700" cap="flat" cmpd="sng">
            <a:solidFill>
              <a:srgbClr val="42719B"/>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2800" b="1" i="0" u="none" strike="noStrike" cap="none">
                <a:solidFill>
                  <a:schemeClr val="lt1"/>
                </a:solidFill>
                <a:latin typeface="Calibri"/>
                <a:ea typeface="Calibri"/>
                <a:cs typeface="Calibri"/>
                <a:sym typeface="Calibri"/>
              </a:rPr>
              <a:t>04</a:t>
            </a:r>
            <a:endParaRPr/>
          </a:p>
        </p:txBody>
      </p:sp>
      <p:sp>
        <p:nvSpPr>
          <p:cNvPr id="106" name="Google Shape;106;p14"/>
          <p:cNvSpPr txBox="1">
            <a:spLocks noGrp="1"/>
          </p:cNvSpPr>
          <p:nvPr>
            <p:ph type="body" idx="1"/>
          </p:nvPr>
        </p:nvSpPr>
        <p:spPr>
          <a:xfrm>
            <a:off x="792325" y="512304"/>
            <a:ext cx="8084400" cy="586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B0F0"/>
              </a:buClr>
              <a:buSzPts val="2800"/>
              <a:buNone/>
            </a:pPr>
            <a:r>
              <a:rPr lang="es-AR" sz="3500" b="1">
                <a:solidFill>
                  <a:srgbClr val="0231B3"/>
                </a:solidFill>
                <a:latin typeface="Arial"/>
                <a:ea typeface="Arial"/>
                <a:cs typeface="Arial"/>
                <a:sym typeface="Arial"/>
              </a:rPr>
              <a:t>Descripción de la Actividad principal</a:t>
            </a:r>
            <a:endParaRPr sz="3500" b="1">
              <a:solidFill>
                <a:srgbClr val="0231B3"/>
              </a:solidFill>
            </a:endParaRPr>
          </a:p>
        </p:txBody>
      </p:sp>
      <p:sp>
        <p:nvSpPr>
          <p:cNvPr id="107" name="Google Shape;107;p14"/>
          <p:cNvSpPr/>
          <p:nvPr/>
        </p:nvSpPr>
        <p:spPr>
          <a:xfrm>
            <a:off x="10545525" y="27225"/>
            <a:ext cx="1564200" cy="777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108" name="Google Shape;108;p14" title="Captura de pantalla 2026-08-09 a la(s) 6.17.13 p. m..png"/>
          <p:cNvPicPr preferRelativeResize="0"/>
          <p:nvPr/>
        </p:nvPicPr>
        <p:blipFill>
          <a:blip r:embed="rId4">
            <a:alphaModFix/>
          </a:blip>
          <a:stretch>
            <a:fillRect/>
          </a:stretch>
        </p:blipFill>
        <p:spPr>
          <a:xfrm>
            <a:off x="10865026" y="85376"/>
            <a:ext cx="870925" cy="1013435"/>
          </a:xfrm>
          <a:prstGeom prst="rect">
            <a:avLst/>
          </a:prstGeom>
          <a:noFill/>
          <a:ln>
            <a:noFill/>
          </a:ln>
        </p:spPr>
      </p:pic>
      <p:sp>
        <p:nvSpPr>
          <p:cNvPr id="109" name="Google Shape;109;p14"/>
          <p:cNvSpPr txBox="1"/>
          <p:nvPr/>
        </p:nvSpPr>
        <p:spPr>
          <a:xfrm>
            <a:off x="5327625" y="3147475"/>
            <a:ext cx="3422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AR" sz="1800">
                <a:solidFill>
                  <a:schemeClr val="dk1"/>
                </a:solidFill>
              </a:rPr>
              <a:t>Tercer sector/ Sector social</a:t>
            </a:r>
            <a:endParaRPr sz="1800">
              <a:solidFill>
                <a:schemeClr val="dk1"/>
              </a:solidFill>
            </a:endParaRPr>
          </a:p>
          <a:p>
            <a:pPr marL="0" lvl="0" indent="0" algn="l" rtl="0">
              <a:spcBef>
                <a:spcPts val="0"/>
              </a:spcBef>
              <a:spcAft>
                <a:spcPts val="0"/>
              </a:spcAft>
              <a:buNone/>
            </a:pPr>
            <a:endParaRPr sz="2800">
              <a:solidFill>
                <a:schemeClr val="dk1"/>
              </a:solidFill>
            </a:endParaRPr>
          </a:p>
        </p:txBody>
      </p:sp>
      <p:sp>
        <p:nvSpPr>
          <p:cNvPr id="110" name="Google Shape;110;p14"/>
          <p:cNvSpPr txBox="1"/>
          <p:nvPr/>
        </p:nvSpPr>
        <p:spPr>
          <a:xfrm>
            <a:off x="856525" y="1188388"/>
            <a:ext cx="10727700" cy="16371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s-AR" sz="1800">
                <a:solidFill>
                  <a:schemeClr val="dk1"/>
                </a:solidFill>
              </a:rPr>
              <a:t>Desarrollo de actividades artísticas, educativas y sociales destinadas a niños y  adolescentes, utilizando la música coral para promover la integración, participación, desarrollo personal y grupal, y fortalecimiento de vínculos comunitarios.</a:t>
            </a:r>
            <a:br>
              <a:rPr lang="es-AR" sz="1800">
                <a:solidFill>
                  <a:schemeClr val="dk1"/>
                </a:solidFill>
              </a:rPr>
            </a:br>
            <a:r>
              <a:rPr lang="es-AR" sz="1800">
                <a:solidFill>
                  <a:schemeClr val="dk1"/>
                </a:solidFill>
              </a:rPr>
              <a:t>Actualmente, la organización cuenta con cinco coros distribuidos en cuatro sedes. Las actividades se realizan de lunes a jueves y los sábados. </a:t>
            </a:r>
            <a:endParaRPr sz="1800">
              <a:solidFill>
                <a:schemeClr val="dk1"/>
              </a:solidFill>
            </a:endParaRPr>
          </a:p>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111" name="Google Shape;111;p14"/>
          <p:cNvSpPr txBox="1"/>
          <p:nvPr/>
        </p:nvSpPr>
        <p:spPr>
          <a:xfrm>
            <a:off x="5549650" y="3976729"/>
            <a:ext cx="320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1800">
                <a:solidFill>
                  <a:schemeClr val="dk1"/>
                </a:solidFill>
              </a:rPr>
              <a:t>Privada sin Fines de Lucro</a:t>
            </a:r>
            <a:endParaRPr sz="1800">
              <a:solidFill>
                <a:schemeClr val="dk1"/>
              </a:solidFill>
            </a:endParaRPr>
          </a:p>
        </p:txBody>
      </p:sp>
      <p:sp>
        <p:nvSpPr>
          <p:cNvPr id="112" name="Google Shape;112;p14"/>
          <p:cNvSpPr txBox="1"/>
          <p:nvPr/>
        </p:nvSpPr>
        <p:spPr>
          <a:xfrm>
            <a:off x="5468350" y="4805975"/>
            <a:ext cx="4156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1800">
                <a:solidFill>
                  <a:schemeClr val="dk1"/>
                </a:solidFill>
              </a:rPr>
              <a:t>Local / Territorial (Virreyes Oeste, San Fernando, Buenos Aires)</a:t>
            </a:r>
            <a:endParaRPr sz="1800">
              <a:solidFill>
                <a:schemeClr val="dk1"/>
              </a:solidFill>
            </a:endParaRPr>
          </a:p>
        </p:txBody>
      </p:sp>
      <p:sp>
        <p:nvSpPr>
          <p:cNvPr id="113" name="Google Shape;113;p14"/>
          <p:cNvSpPr txBox="1"/>
          <p:nvPr/>
        </p:nvSpPr>
        <p:spPr>
          <a:xfrm>
            <a:off x="5357325" y="5715725"/>
            <a:ext cx="3362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1800">
                <a:solidFill>
                  <a:schemeClr val="dk1"/>
                </a:solidFill>
              </a:rPr>
              <a:t>Pequeña</a:t>
            </a:r>
            <a:endParaRPr sz="1800">
              <a:solidFill>
                <a:schemeClr val="dk1"/>
              </a:solidFill>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500"/>
                                        <p:tgtEl>
                                          <p:spTgt spid="102"/>
                                        </p:tgtEl>
                                      </p:cBhvr>
                                    </p:animEffect>
                                  </p:childTnLst>
                                </p:cTn>
                              </p:par>
                              <p:par>
                                <p:cTn id="11" presetID="10"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5"/>
          <p:cNvSpPr txBox="1">
            <a:spLocks noGrp="1"/>
          </p:cNvSpPr>
          <p:nvPr>
            <p:ph type="title"/>
          </p:nvPr>
        </p:nvSpPr>
        <p:spPr>
          <a:xfrm>
            <a:off x="695587" y="652941"/>
            <a:ext cx="10515600" cy="4053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s-AR">
                <a:solidFill>
                  <a:srgbClr val="0231B3"/>
                </a:solidFill>
              </a:rPr>
              <a:t>Misión, Visión y Valores</a:t>
            </a:r>
            <a:endParaRPr>
              <a:solidFill>
                <a:srgbClr val="0231B3"/>
              </a:solidFill>
            </a:endParaRPr>
          </a:p>
        </p:txBody>
      </p:sp>
      <p:pic>
        <p:nvPicPr>
          <p:cNvPr id="119" name="Google Shape;119;p15"/>
          <p:cNvPicPr preferRelativeResize="0"/>
          <p:nvPr/>
        </p:nvPicPr>
        <p:blipFill rotWithShape="1">
          <a:blip r:embed="rId3">
            <a:alphaModFix/>
          </a:blip>
          <a:srcRect/>
          <a:stretch/>
        </p:blipFill>
        <p:spPr>
          <a:xfrm>
            <a:off x="10185766" y="1368916"/>
            <a:ext cx="1564154" cy="2155916"/>
          </a:xfrm>
          <a:prstGeom prst="rect">
            <a:avLst/>
          </a:prstGeom>
          <a:noFill/>
          <a:ln>
            <a:noFill/>
          </a:ln>
        </p:spPr>
      </p:pic>
      <p:pic>
        <p:nvPicPr>
          <p:cNvPr id="120" name="Google Shape;120;p15"/>
          <p:cNvPicPr preferRelativeResize="0"/>
          <p:nvPr/>
        </p:nvPicPr>
        <p:blipFill rotWithShape="1">
          <a:blip r:embed="rId4">
            <a:alphaModFix/>
          </a:blip>
          <a:srcRect/>
          <a:stretch/>
        </p:blipFill>
        <p:spPr>
          <a:xfrm>
            <a:off x="984317" y="3020249"/>
            <a:ext cx="1564155" cy="2201403"/>
          </a:xfrm>
          <a:prstGeom prst="rect">
            <a:avLst/>
          </a:prstGeom>
          <a:noFill/>
          <a:ln>
            <a:noFill/>
          </a:ln>
        </p:spPr>
      </p:pic>
      <p:pic>
        <p:nvPicPr>
          <p:cNvPr id="121" name="Google Shape;121;p15"/>
          <p:cNvPicPr preferRelativeResize="0"/>
          <p:nvPr/>
        </p:nvPicPr>
        <p:blipFill rotWithShape="1">
          <a:blip r:embed="rId5">
            <a:alphaModFix/>
          </a:blip>
          <a:srcRect/>
          <a:stretch/>
        </p:blipFill>
        <p:spPr>
          <a:xfrm>
            <a:off x="8734751" y="4399398"/>
            <a:ext cx="1564156" cy="2299224"/>
          </a:xfrm>
          <a:prstGeom prst="rect">
            <a:avLst/>
          </a:prstGeom>
          <a:noFill/>
          <a:ln>
            <a:noFill/>
          </a:ln>
        </p:spPr>
      </p:pic>
      <p:sp>
        <p:nvSpPr>
          <p:cNvPr id="122" name="Google Shape;122;p15"/>
          <p:cNvSpPr txBox="1"/>
          <p:nvPr/>
        </p:nvSpPr>
        <p:spPr>
          <a:xfrm>
            <a:off x="9189863" y="5335135"/>
            <a:ext cx="870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800" b="0" i="0" u="none" strike="noStrike" cap="none">
                <a:solidFill>
                  <a:schemeClr val="dk1"/>
                </a:solidFill>
                <a:latin typeface="Calibri"/>
                <a:ea typeface="Calibri"/>
                <a:cs typeface="Calibri"/>
                <a:sym typeface="Calibri"/>
              </a:rPr>
              <a:t>Valores</a:t>
            </a:r>
            <a:endParaRPr/>
          </a:p>
        </p:txBody>
      </p:sp>
      <p:sp>
        <p:nvSpPr>
          <p:cNvPr id="123" name="Google Shape;123;p15"/>
          <p:cNvSpPr txBox="1"/>
          <p:nvPr/>
        </p:nvSpPr>
        <p:spPr>
          <a:xfrm>
            <a:off x="695575" y="1571250"/>
            <a:ext cx="9490200" cy="93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AR" sz="1800">
                <a:solidFill>
                  <a:schemeClr val="dk1"/>
                </a:solidFill>
              </a:rPr>
              <a:t>“Potenciar las oportunidades de inclusión y de desarrollo personal, social y comunitario de los niños, niñas, adolescentes y jóvenes residentes en las zonas vulnerables de la localidad de Virreyes Oeste a través de la práctica de la música coral, el baile y el teatro.”</a:t>
            </a:r>
            <a:endParaRPr sz="1800">
              <a:solidFill>
                <a:schemeClr val="dk1"/>
              </a:solidFill>
            </a:endParaRPr>
          </a:p>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124" name="Google Shape;124;p15"/>
          <p:cNvSpPr txBox="1"/>
          <p:nvPr/>
        </p:nvSpPr>
        <p:spPr>
          <a:xfrm>
            <a:off x="2644075" y="3107850"/>
            <a:ext cx="7541700" cy="141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AR" sz="1800">
                <a:solidFill>
                  <a:schemeClr val="dk1"/>
                </a:solidFill>
              </a:rPr>
              <a:t>“Ser agente de transformación social, contribuyendo en  la formación de una sociedad mejor, con mayor equidad y más desarrollo del potencial humano a través de un abordaje multiartístico y cultural, que integre voces, artes y actores diversos.”</a:t>
            </a:r>
            <a:endParaRPr sz="1800">
              <a:solidFill>
                <a:schemeClr val="dk1"/>
              </a:solidFill>
            </a:endParaRPr>
          </a:p>
        </p:txBody>
      </p:sp>
      <p:sp>
        <p:nvSpPr>
          <p:cNvPr id="125" name="Google Shape;125;p15"/>
          <p:cNvSpPr txBox="1"/>
          <p:nvPr/>
        </p:nvSpPr>
        <p:spPr>
          <a:xfrm>
            <a:off x="984325" y="5559375"/>
            <a:ext cx="7376100" cy="849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AR" sz="1800">
                <a:solidFill>
                  <a:schemeClr val="dk1"/>
                </a:solidFill>
              </a:rPr>
              <a:t>Amor, respeto, tolerancia, solidaridad, confianza, integración, compañerismo, participación y sentido de pertenencia a la comunidad.</a:t>
            </a:r>
            <a:endParaRPr sz="1800">
              <a:solidFill>
                <a:schemeClr val="dk1"/>
              </a:solidFill>
            </a:endParaRPr>
          </a:p>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sp>
        <p:nvSpPr>
          <p:cNvPr id="126" name="Google Shape;126;p15"/>
          <p:cNvSpPr/>
          <p:nvPr/>
        </p:nvSpPr>
        <p:spPr>
          <a:xfrm>
            <a:off x="10545525" y="27225"/>
            <a:ext cx="1494000" cy="586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127" name="Google Shape;127;p15" title="Captura de pantalla 2026-08-09 a la(s) 6.17.13 p. m..png"/>
          <p:cNvPicPr preferRelativeResize="0"/>
          <p:nvPr/>
        </p:nvPicPr>
        <p:blipFill>
          <a:blip r:embed="rId6">
            <a:alphaModFix/>
          </a:blip>
          <a:stretch>
            <a:fillRect/>
          </a:stretch>
        </p:blipFill>
        <p:spPr>
          <a:xfrm>
            <a:off x="11011826" y="27226"/>
            <a:ext cx="870925" cy="101343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6"/>
          <p:cNvSpPr txBox="1">
            <a:spLocks noGrp="1"/>
          </p:cNvSpPr>
          <p:nvPr>
            <p:ph type="title"/>
          </p:nvPr>
        </p:nvSpPr>
        <p:spPr>
          <a:xfrm>
            <a:off x="783609"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AEEF"/>
              </a:buClr>
              <a:buSzPts val="4400"/>
              <a:buFont typeface="Calibri"/>
              <a:buNone/>
            </a:pPr>
            <a:r>
              <a:rPr lang="es-AR" b="1">
                <a:solidFill>
                  <a:srgbClr val="0231B3"/>
                </a:solidFill>
              </a:rPr>
              <a:t>Plan de Negocio</a:t>
            </a:r>
            <a:endParaRPr b="1">
              <a:solidFill>
                <a:srgbClr val="0231B3"/>
              </a:solidFill>
            </a:endParaRPr>
          </a:p>
        </p:txBody>
      </p:sp>
      <p:graphicFrame>
        <p:nvGraphicFramePr>
          <p:cNvPr id="133" name="Google Shape;133;p16"/>
          <p:cNvGraphicFramePr/>
          <p:nvPr/>
        </p:nvGraphicFramePr>
        <p:xfrm>
          <a:off x="6808838" y="1302774"/>
          <a:ext cx="3000000" cy="3000000"/>
        </p:xfrm>
        <a:graphic>
          <a:graphicData uri="http://schemas.openxmlformats.org/drawingml/2006/table">
            <a:tbl>
              <a:tblPr firstRow="1" bandRow="1">
                <a:noFill/>
                <a:tableStyleId>{4636CCBE-A578-41CF-8C69-76554D0E2443}</a:tableStyleId>
              </a:tblPr>
              <a:tblGrid>
                <a:gridCol w="4869125">
                  <a:extLst>
                    <a:ext uri="{9D8B030D-6E8A-4147-A177-3AD203B41FA5}">
                      <a16:colId xmlns:a16="http://schemas.microsoft.com/office/drawing/2014/main" val="20000"/>
                    </a:ext>
                  </a:extLst>
                </a:gridCol>
              </a:tblGrid>
              <a:tr h="576975">
                <a:tc>
                  <a:txBody>
                    <a:bodyPr/>
                    <a:lstStyle/>
                    <a:p>
                      <a:pPr marL="0" marR="0" lvl="0" indent="0" algn="ctr" rtl="0">
                        <a:spcBef>
                          <a:spcPts val="0"/>
                        </a:spcBef>
                        <a:spcAft>
                          <a:spcPts val="0"/>
                        </a:spcAft>
                        <a:buNone/>
                      </a:pPr>
                      <a:r>
                        <a:rPr lang="es-AR" sz="1800" u="none" strike="noStrike" cap="none"/>
                        <a:t> </a:t>
                      </a:r>
                      <a:r>
                        <a:rPr lang="es-AR" sz="2800" u="none" strike="noStrike" cap="none"/>
                        <a:t>Plan de Negocio</a:t>
                      </a:r>
                      <a:endParaRPr/>
                    </a:p>
                  </a:txBody>
                  <a:tcPr marL="91450" marR="91450" marT="45725" marB="45725"/>
                </a:tc>
                <a:extLst>
                  <a:ext uri="{0D108BD9-81ED-4DB2-BD59-A6C34878D82A}">
                    <a16:rowId xmlns:a16="http://schemas.microsoft.com/office/drawing/2014/main" val="10000"/>
                  </a:ext>
                </a:extLst>
              </a:tr>
              <a:tr h="1647100">
                <a:tc>
                  <a:txBody>
                    <a:bodyPr/>
                    <a:lstStyle/>
                    <a:p>
                      <a:pPr marL="0" marR="0" lvl="0" indent="0" algn="just" rtl="0">
                        <a:lnSpc>
                          <a:spcPct val="100000"/>
                        </a:lnSpc>
                        <a:spcBef>
                          <a:spcPts val="0"/>
                        </a:spcBef>
                        <a:spcAft>
                          <a:spcPts val="0"/>
                        </a:spcAft>
                        <a:buClr>
                          <a:srgbClr val="080E2C"/>
                        </a:buClr>
                        <a:buSzPts val="1800"/>
                        <a:buFont typeface="Work Sans Light"/>
                        <a:buNone/>
                      </a:pPr>
                      <a:r>
                        <a:rPr lang="es-AR" sz="1800" b="1" i="0" u="none" strike="noStrike" cap="none">
                          <a:latin typeface="Work Sans Light"/>
                          <a:ea typeface="Work Sans Light"/>
                          <a:cs typeface="Work Sans Light"/>
                          <a:sym typeface="Work Sans Light"/>
                        </a:rPr>
                        <a:t>Innovadores:</a:t>
                      </a:r>
                      <a:r>
                        <a:rPr lang="es-AR" sz="1800" b="1">
                          <a:latin typeface="Work Sans Light"/>
                          <a:ea typeface="Work Sans Light"/>
                          <a:cs typeface="Work Sans Light"/>
                          <a:sym typeface="Work Sans Light"/>
                        </a:rPr>
                        <a:t> Digitaliza un proceso que actualmente se realiza en papel y permite centralizar la información de los participantes y su asistencia. </a:t>
                      </a:r>
                      <a:endParaRPr/>
                    </a:p>
                  </a:txBody>
                  <a:tcPr marL="91450" marR="91450" marT="45725" marB="45725"/>
                </a:tc>
                <a:extLst>
                  <a:ext uri="{0D108BD9-81ED-4DB2-BD59-A6C34878D82A}">
                    <a16:rowId xmlns:a16="http://schemas.microsoft.com/office/drawing/2014/main" val="10001"/>
                  </a:ext>
                </a:extLst>
              </a:tr>
              <a:tr h="1387025">
                <a:tc>
                  <a:txBody>
                    <a:bodyPr/>
                    <a:lstStyle/>
                    <a:p>
                      <a:pPr marL="0" marR="0" lvl="0" indent="0" algn="just" rtl="0">
                        <a:lnSpc>
                          <a:spcPct val="100000"/>
                        </a:lnSpc>
                        <a:spcBef>
                          <a:spcPts val="0"/>
                        </a:spcBef>
                        <a:spcAft>
                          <a:spcPts val="0"/>
                        </a:spcAft>
                        <a:buClr>
                          <a:srgbClr val="080E2C"/>
                        </a:buClr>
                        <a:buSzPts val="1800"/>
                        <a:buFont typeface="Work Sans Light"/>
                        <a:buNone/>
                      </a:pPr>
                      <a:r>
                        <a:rPr lang="es-AR" sz="1800" b="1" i="0" u="none" strike="noStrike" cap="none">
                          <a:latin typeface="Work Sans Light"/>
                          <a:ea typeface="Work Sans Light"/>
                          <a:cs typeface="Work Sans Light"/>
                          <a:sym typeface="Work Sans Light"/>
                        </a:rPr>
                        <a:t>Escalable:</a:t>
                      </a:r>
                      <a:r>
                        <a:rPr lang="es-AR" sz="1800" b="1">
                          <a:latin typeface="Work Sans Light"/>
                          <a:ea typeface="Work Sans Light"/>
                          <a:cs typeface="Work Sans Light"/>
                          <a:sym typeface="Work Sans Light"/>
                        </a:rPr>
                        <a:t> La solución deberá permitir administrar inicialmente cinco coros en cuatro sedes y admitir la incorporación de nuevos grupos y participantes. </a:t>
                      </a:r>
                      <a:endParaRPr/>
                    </a:p>
                  </a:txBody>
                  <a:tcPr marL="91450" marR="91450" marT="45725" marB="45725"/>
                </a:tc>
                <a:extLst>
                  <a:ext uri="{0D108BD9-81ED-4DB2-BD59-A6C34878D82A}">
                    <a16:rowId xmlns:a16="http://schemas.microsoft.com/office/drawing/2014/main" val="10002"/>
                  </a:ext>
                </a:extLst>
              </a:tr>
              <a:tr h="1428875">
                <a:tc>
                  <a:txBody>
                    <a:bodyPr/>
                    <a:lstStyle/>
                    <a:p>
                      <a:pPr marL="342900" marR="0" lvl="0" indent="-279400" algn="just" rtl="0">
                        <a:lnSpc>
                          <a:spcPct val="107000"/>
                        </a:lnSpc>
                        <a:spcBef>
                          <a:spcPts val="0"/>
                        </a:spcBef>
                        <a:spcAft>
                          <a:spcPts val="0"/>
                        </a:spcAft>
                        <a:buClr>
                          <a:srgbClr val="000000"/>
                        </a:buClr>
                        <a:buSzPts val="1000"/>
                        <a:buFont typeface="Noto Sans Symbols"/>
                        <a:buNone/>
                      </a:pPr>
                      <a:endParaRPr sz="1600" b="0" i="0" u="none" strike="noStrike" cap="none">
                        <a:latin typeface="Work Sans Light"/>
                        <a:ea typeface="Work Sans Light"/>
                        <a:cs typeface="Work Sans Light"/>
                        <a:sym typeface="Work Sans Light"/>
                      </a:endParaRPr>
                    </a:p>
                    <a:p>
                      <a:pPr marL="0" marR="0" lvl="0" indent="0" algn="just" rtl="0">
                        <a:lnSpc>
                          <a:spcPct val="100000"/>
                        </a:lnSpc>
                        <a:spcBef>
                          <a:spcPts val="0"/>
                        </a:spcBef>
                        <a:spcAft>
                          <a:spcPts val="0"/>
                        </a:spcAft>
                        <a:buClr>
                          <a:srgbClr val="080E2C"/>
                        </a:buClr>
                        <a:buSzPts val="1800"/>
                        <a:buFont typeface="Work Sans Light"/>
                        <a:buNone/>
                      </a:pPr>
                      <a:r>
                        <a:rPr lang="es-AR" sz="1800" b="1">
                          <a:latin typeface="Work Sans Light"/>
                          <a:ea typeface="Work Sans Light"/>
                          <a:cs typeface="Work Sans Light"/>
                          <a:sym typeface="Work Sans Light"/>
                        </a:rPr>
                        <a:t>Replicable: Es un modelo que puede replicarse en cualquier ONG local como esta.</a:t>
                      </a:r>
                      <a:endParaRPr sz="1800" b="1">
                        <a:latin typeface="Work Sans Light"/>
                        <a:ea typeface="Work Sans Light"/>
                        <a:cs typeface="Work Sans Light"/>
                        <a:sym typeface="Work Sans Light"/>
                      </a:endParaRPr>
                    </a:p>
                    <a:p>
                      <a:pPr marL="0" marR="0" lvl="0" indent="0" algn="just"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3"/>
                  </a:ext>
                </a:extLst>
              </a:tr>
            </a:tbl>
          </a:graphicData>
        </a:graphic>
      </p:graphicFrame>
      <p:sp>
        <p:nvSpPr>
          <p:cNvPr id="134" name="Google Shape;134;p16"/>
          <p:cNvSpPr txBox="1"/>
          <p:nvPr/>
        </p:nvSpPr>
        <p:spPr>
          <a:xfrm>
            <a:off x="517506" y="1318386"/>
            <a:ext cx="6005100" cy="4987200"/>
          </a:xfrm>
          <a:prstGeom prst="rect">
            <a:avLst/>
          </a:prstGeom>
          <a:noFill/>
          <a:ln>
            <a:noFill/>
          </a:ln>
        </p:spPr>
        <p:txBody>
          <a:bodyPr spcFirstLastPara="1" wrap="square" lIns="91425" tIns="45700" rIns="91425" bIns="45700" anchor="t" anchorCtr="0">
            <a:spAutoFit/>
          </a:bodyPr>
          <a:lstStyle/>
          <a:p>
            <a:pPr marL="457200" lvl="0" indent="-349250" algn="just" rtl="0">
              <a:lnSpc>
                <a:spcPct val="100000"/>
              </a:lnSpc>
              <a:spcBef>
                <a:spcPts val="0"/>
              </a:spcBef>
              <a:spcAft>
                <a:spcPts val="0"/>
              </a:spcAft>
              <a:buClr>
                <a:schemeClr val="dk1"/>
              </a:buClr>
              <a:buSzPts val="1900"/>
              <a:buFont typeface="Calibri"/>
              <a:buChar char="●"/>
            </a:pPr>
            <a:r>
              <a:rPr lang="es-AR" sz="1900" b="1">
                <a:solidFill>
                  <a:schemeClr val="dk1"/>
                </a:solidFill>
                <a:latin typeface="Calibri"/>
                <a:ea typeface="Calibri"/>
                <a:cs typeface="Calibri"/>
                <a:sym typeface="Calibri"/>
              </a:rPr>
              <a:t>Propuesta de valor:</a:t>
            </a:r>
            <a:r>
              <a:rPr lang="es-AR" sz="1900">
                <a:solidFill>
                  <a:schemeClr val="dk1"/>
                </a:solidFill>
                <a:latin typeface="Calibri"/>
                <a:ea typeface="Calibri"/>
                <a:cs typeface="Calibri"/>
                <a:sym typeface="Calibri"/>
              </a:rPr>
              <a:t> espacio semanal de contención, aprendizaje y expresión artística para niños, adolescentes y jóvenes.</a:t>
            </a:r>
            <a:endParaRPr sz="1900">
              <a:solidFill>
                <a:schemeClr val="dk1"/>
              </a:solidFill>
              <a:latin typeface="Calibri"/>
              <a:ea typeface="Calibri"/>
              <a:cs typeface="Calibri"/>
              <a:sym typeface="Calibri"/>
            </a:endParaRPr>
          </a:p>
          <a:p>
            <a:pPr marL="457200" lvl="0" indent="0" algn="just" rtl="0">
              <a:lnSpc>
                <a:spcPct val="100000"/>
              </a:lnSpc>
              <a:spcBef>
                <a:spcPts val="0"/>
              </a:spcBef>
              <a:spcAft>
                <a:spcPts val="0"/>
              </a:spcAft>
              <a:buNone/>
            </a:pPr>
            <a:endParaRPr sz="1900">
              <a:solidFill>
                <a:schemeClr val="dk1"/>
              </a:solidFill>
              <a:latin typeface="Calibri"/>
              <a:ea typeface="Calibri"/>
              <a:cs typeface="Calibri"/>
              <a:sym typeface="Calibri"/>
            </a:endParaRPr>
          </a:p>
          <a:p>
            <a:pPr marL="457200" lvl="0" indent="-349250" algn="just" rtl="0">
              <a:lnSpc>
                <a:spcPct val="100000"/>
              </a:lnSpc>
              <a:spcBef>
                <a:spcPts val="0"/>
              </a:spcBef>
              <a:spcAft>
                <a:spcPts val="0"/>
              </a:spcAft>
              <a:buClr>
                <a:schemeClr val="dk1"/>
              </a:buClr>
              <a:buSzPts val="1900"/>
              <a:buFont typeface="Calibri"/>
              <a:buChar char="●"/>
            </a:pPr>
            <a:r>
              <a:rPr lang="es-AR" sz="1900" b="1">
                <a:solidFill>
                  <a:schemeClr val="dk1"/>
                </a:solidFill>
                <a:latin typeface="Calibri"/>
                <a:ea typeface="Calibri"/>
                <a:cs typeface="Calibri"/>
                <a:sym typeface="Calibri"/>
              </a:rPr>
              <a:t>Beneficiarios:</a:t>
            </a:r>
            <a:r>
              <a:rPr lang="es-AR" sz="1900">
                <a:solidFill>
                  <a:schemeClr val="dk1"/>
                </a:solidFill>
                <a:latin typeface="Calibri"/>
                <a:ea typeface="Calibri"/>
                <a:cs typeface="Calibri"/>
                <a:sym typeface="Calibri"/>
              </a:rPr>
              <a:t> participantes y sus familias de Virreyes Oeste.</a:t>
            </a:r>
            <a:endParaRPr sz="1900">
              <a:solidFill>
                <a:schemeClr val="dk1"/>
              </a:solidFill>
              <a:latin typeface="Calibri"/>
              <a:ea typeface="Calibri"/>
              <a:cs typeface="Calibri"/>
              <a:sym typeface="Calibri"/>
            </a:endParaRPr>
          </a:p>
          <a:p>
            <a:pPr marL="457200" lvl="0" indent="0" algn="just" rtl="0">
              <a:lnSpc>
                <a:spcPct val="100000"/>
              </a:lnSpc>
              <a:spcBef>
                <a:spcPts val="0"/>
              </a:spcBef>
              <a:spcAft>
                <a:spcPts val="0"/>
              </a:spcAft>
              <a:buNone/>
            </a:pPr>
            <a:endParaRPr sz="1900">
              <a:solidFill>
                <a:schemeClr val="dk1"/>
              </a:solidFill>
              <a:latin typeface="Calibri"/>
              <a:ea typeface="Calibri"/>
              <a:cs typeface="Calibri"/>
              <a:sym typeface="Calibri"/>
            </a:endParaRPr>
          </a:p>
          <a:p>
            <a:pPr marL="457200" lvl="0" indent="-349250" algn="just" rtl="0">
              <a:lnSpc>
                <a:spcPct val="100000"/>
              </a:lnSpc>
              <a:spcBef>
                <a:spcPts val="0"/>
              </a:spcBef>
              <a:spcAft>
                <a:spcPts val="0"/>
              </a:spcAft>
              <a:buClr>
                <a:schemeClr val="dk1"/>
              </a:buClr>
              <a:buSzPts val="1900"/>
              <a:buFont typeface="Calibri"/>
              <a:buChar char="●"/>
            </a:pPr>
            <a:r>
              <a:rPr lang="es-AR" sz="1900" b="1">
                <a:solidFill>
                  <a:schemeClr val="dk1"/>
                </a:solidFill>
                <a:latin typeface="Calibri"/>
                <a:ea typeface="Calibri"/>
                <a:cs typeface="Calibri"/>
                <a:sym typeface="Calibri"/>
              </a:rPr>
              <a:t>Actividades:</a:t>
            </a:r>
            <a:r>
              <a:rPr lang="es-AR" sz="1900">
                <a:solidFill>
                  <a:schemeClr val="dk1"/>
                </a:solidFill>
                <a:latin typeface="Calibri"/>
                <a:ea typeface="Calibri"/>
                <a:cs typeface="Calibri"/>
                <a:sym typeface="Calibri"/>
              </a:rPr>
              <a:t> ensayos corales, teatro, expresión corporal, presentaciones y acompañamiento familiar.</a:t>
            </a:r>
            <a:endParaRPr sz="1900">
              <a:solidFill>
                <a:schemeClr val="dk1"/>
              </a:solidFill>
              <a:latin typeface="Calibri"/>
              <a:ea typeface="Calibri"/>
              <a:cs typeface="Calibri"/>
              <a:sym typeface="Calibri"/>
            </a:endParaRPr>
          </a:p>
          <a:p>
            <a:pPr marL="457200" lvl="0" indent="0" algn="just" rtl="0">
              <a:lnSpc>
                <a:spcPct val="100000"/>
              </a:lnSpc>
              <a:spcBef>
                <a:spcPts val="0"/>
              </a:spcBef>
              <a:spcAft>
                <a:spcPts val="0"/>
              </a:spcAft>
              <a:buNone/>
            </a:pPr>
            <a:endParaRPr sz="1900">
              <a:solidFill>
                <a:schemeClr val="dk1"/>
              </a:solidFill>
              <a:latin typeface="Calibri"/>
              <a:ea typeface="Calibri"/>
              <a:cs typeface="Calibri"/>
              <a:sym typeface="Calibri"/>
            </a:endParaRPr>
          </a:p>
          <a:p>
            <a:pPr marL="457200" lvl="0" indent="-349250" algn="just" rtl="0">
              <a:lnSpc>
                <a:spcPct val="100000"/>
              </a:lnSpc>
              <a:spcBef>
                <a:spcPts val="0"/>
              </a:spcBef>
              <a:spcAft>
                <a:spcPts val="0"/>
              </a:spcAft>
              <a:buClr>
                <a:schemeClr val="dk1"/>
              </a:buClr>
              <a:buSzPts val="1900"/>
              <a:buFont typeface="Calibri"/>
              <a:buChar char="●"/>
            </a:pPr>
            <a:r>
              <a:rPr lang="es-AR" sz="1900" b="1">
                <a:solidFill>
                  <a:schemeClr val="dk1"/>
                </a:solidFill>
                <a:latin typeface="Calibri"/>
                <a:ea typeface="Calibri"/>
                <a:cs typeface="Calibri"/>
                <a:sym typeface="Calibri"/>
              </a:rPr>
              <a:t>Recursos: </a:t>
            </a:r>
            <a:r>
              <a:rPr lang="es-AR" sz="1900">
                <a:solidFill>
                  <a:schemeClr val="dk1"/>
                </a:solidFill>
                <a:latin typeface="Calibri"/>
                <a:ea typeface="Calibri"/>
                <a:cs typeface="Calibri"/>
                <a:sym typeface="Calibri"/>
              </a:rPr>
              <a:t>equipo profesional y voluntario, espacios de ensayo, donaciones y becas artísticas.</a:t>
            </a:r>
            <a:endParaRPr sz="1900">
              <a:solidFill>
                <a:schemeClr val="dk1"/>
              </a:solidFill>
              <a:latin typeface="Calibri"/>
              <a:ea typeface="Calibri"/>
              <a:cs typeface="Calibri"/>
              <a:sym typeface="Calibri"/>
            </a:endParaRPr>
          </a:p>
          <a:p>
            <a:pPr marL="457200" lvl="0" indent="0" algn="just" rtl="0">
              <a:lnSpc>
                <a:spcPct val="100000"/>
              </a:lnSpc>
              <a:spcBef>
                <a:spcPts val="0"/>
              </a:spcBef>
              <a:spcAft>
                <a:spcPts val="0"/>
              </a:spcAft>
              <a:buNone/>
            </a:pPr>
            <a:endParaRPr sz="1900">
              <a:solidFill>
                <a:schemeClr val="dk1"/>
              </a:solidFill>
              <a:latin typeface="Calibri"/>
              <a:ea typeface="Calibri"/>
              <a:cs typeface="Calibri"/>
              <a:sym typeface="Calibri"/>
            </a:endParaRPr>
          </a:p>
          <a:p>
            <a:pPr marL="457200" lvl="0" indent="-349250" algn="just" rtl="0">
              <a:lnSpc>
                <a:spcPct val="100000"/>
              </a:lnSpc>
              <a:spcBef>
                <a:spcPts val="0"/>
              </a:spcBef>
              <a:spcAft>
                <a:spcPts val="0"/>
              </a:spcAft>
              <a:buClr>
                <a:schemeClr val="dk1"/>
              </a:buClr>
              <a:buSzPts val="1900"/>
              <a:buFont typeface="Calibri"/>
              <a:buChar char="●"/>
            </a:pPr>
            <a:r>
              <a:rPr lang="es-AR" sz="1900" b="1">
                <a:solidFill>
                  <a:schemeClr val="dk1"/>
                </a:solidFill>
                <a:latin typeface="Calibri"/>
                <a:ea typeface="Calibri"/>
                <a:cs typeface="Calibri"/>
                <a:sym typeface="Calibri"/>
              </a:rPr>
              <a:t>Canales actuales:</a:t>
            </a:r>
            <a:r>
              <a:rPr lang="es-AR" sz="1900">
                <a:solidFill>
                  <a:schemeClr val="dk1"/>
                </a:solidFill>
                <a:latin typeface="Calibri"/>
                <a:ea typeface="Calibri"/>
                <a:cs typeface="Calibri"/>
                <a:sym typeface="Calibri"/>
              </a:rPr>
              <a:t> Comunicación principalmente por WhatsApp y registro de participantes y asistencia mediante planillas en papel. </a:t>
            </a:r>
            <a:endParaRPr sz="1900">
              <a:solidFill>
                <a:schemeClr val="dk1"/>
              </a:solidFill>
              <a:latin typeface="Calibri"/>
              <a:ea typeface="Calibri"/>
              <a:cs typeface="Calibri"/>
              <a:sym typeface="Calibri"/>
            </a:endParaRPr>
          </a:p>
          <a:p>
            <a:pPr marL="285750" marR="0" lvl="0" indent="-196850" algn="just" rtl="0">
              <a:spcBef>
                <a:spcPts val="0"/>
              </a:spcBef>
              <a:spcAft>
                <a:spcPts val="0"/>
              </a:spcAft>
              <a:buClr>
                <a:srgbClr val="000000"/>
              </a:buClr>
              <a:buSzPts val="1400"/>
              <a:buFont typeface="Noto Sans Symbols"/>
              <a:buNone/>
            </a:pPr>
            <a:endParaRPr>
              <a:latin typeface="Work Sans Light"/>
              <a:ea typeface="Work Sans Light"/>
              <a:cs typeface="Work Sans Light"/>
              <a:sym typeface="Work Sans Light"/>
            </a:endParaRPr>
          </a:p>
        </p:txBody>
      </p:sp>
      <p:pic>
        <p:nvPicPr>
          <p:cNvPr id="135" name="Google Shape;135;p16" title="Captura de pantalla 2026-08-09 a la(s) 6.17.13 p. m..png"/>
          <p:cNvPicPr preferRelativeResize="0"/>
          <p:nvPr/>
        </p:nvPicPr>
        <p:blipFill>
          <a:blip r:embed="rId3">
            <a:alphaModFix/>
          </a:blip>
          <a:stretch>
            <a:fillRect/>
          </a:stretch>
        </p:blipFill>
        <p:spPr>
          <a:xfrm>
            <a:off x="10865026" y="85376"/>
            <a:ext cx="870925" cy="101343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7"/>
          <p:cNvSpPr txBox="1">
            <a:spLocks noGrp="1"/>
          </p:cNvSpPr>
          <p:nvPr>
            <p:ph type="title"/>
          </p:nvPr>
        </p:nvSpPr>
        <p:spPr>
          <a:xfrm>
            <a:off x="695587" y="652941"/>
            <a:ext cx="10515600" cy="40526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AEEF"/>
              </a:buClr>
              <a:buSzPct val="100000"/>
              <a:buFont typeface="Calibri"/>
              <a:buNone/>
            </a:pPr>
            <a:r>
              <a:rPr lang="es-AR">
                <a:solidFill>
                  <a:srgbClr val="0231B3"/>
                </a:solidFill>
              </a:rPr>
              <a:t>Reglas del Negocio</a:t>
            </a:r>
            <a:endParaRPr>
              <a:solidFill>
                <a:srgbClr val="0231B3"/>
              </a:solidFill>
            </a:endParaRPr>
          </a:p>
        </p:txBody>
      </p:sp>
      <p:grpSp>
        <p:nvGrpSpPr>
          <p:cNvPr id="141" name="Google Shape;141;p17"/>
          <p:cNvGrpSpPr/>
          <p:nvPr/>
        </p:nvGrpSpPr>
        <p:grpSpPr>
          <a:xfrm>
            <a:off x="612884" y="1805812"/>
            <a:ext cx="5904655" cy="4525189"/>
            <a:chOff x="0" y="386"/>
            <a:chExt cx="5904655" cy="4525189"/>
          </a:xfrm>
        </p:grpSpPr>
        <p:sp>
          <p:nvSpPr>
            <p:cNvPr id="142" name="Google Shape;142;p17"/>
            <p:cNvSpPr/>
            <p:nvPr/>
          </p:nvSpPr>
          <p:spPr>
            <a:xfrm rot="5400000">
              <a:off x="3767210" y="-1579158"/>
              <a:ext cx="495911" cy="3778979"/>
            </a:xfrm>
            <a:prstGeom prst="round2SameRect">
              <a:avLst>
                <a:gd name="adj1" fmla="val 16667"/>
                <a:gd name="adj2" fmla="val 0"/>
              </a:avLst>
            </a:prstGeom>
            <a:solidFill>
              <a:srgbClr val="E0E0E0">
                <a:alpha val="90196"/>
              </a:srgbClr>
            </a:solidFill>
            <a:ln w="9525" cap="flat" cmpd="sng">
              <a:solidFill>
                <a:srgbClr val="E0E0E0">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7"/>
            <p:cNvSpPr txBox="1"/>
            <p:nvPr/>
          </p:nvSpPr>
          <p:spPr>
            <a:xfrm>
              <a:off x="2125676" y="86584"/>
              <a:ext cx="3754771" cy="447495"/>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s-AR" sz="1600" b="0" i="0" u="none" strike="noStrike" cap="none">
                  <a:solidFill>
                    <a:schemeClr val="dk1"/>
                  </a:solidFill>
                  <a:latin typeface="Calibri"/>
                  <a:ea typeface="Calibri"/>
                  <a:cs typeface="Calibri"/>
                  <a:sym typeface="Calibri"/>
                </a:rPr>
                <a:t>Tareas  a desarrollar - Hitos</a:t>
              </a:r>
              <a:endParaRPr sz="1600" b="0" i="0" u="none" strike="noStrike" cap="none">
                <a:solidFill>
                  <a:schemeClr val="dk1"/>
                </a:solidFill>
                <a:latin typeface="Calibri"/>
                <a:ea typeface="Calibri"/>
                <a:cs typeface="Calibri"/>
                <a:sym typeface="Calibri"/>
              </a:endParaRPr>
            </a:p>
          </p:txBody>
        </p:sp>
        <p:sp>
          <p:nvSpPr>
            <p:cNvPr id="144" name="Google Shape;144;p17"/>
            <p:cNvSpPr/>
            <p:nvPr/>
          </p:nvSpPr>
          <p:spPr>
            <a:xfrm>
              <a:off x="0" y="386"/>
              <a:ext cx="2125676" cy="619888"/>
            </a:xfrm>
            <a:prstGeom prst="roundRect">
              <a:avLst>
                <a:gd name="adj" fmla="val 16667"/>
              </a:avLst>
            </a:prstGeom>
            <a:gradFill>
              <a:gsLst>
                <a:gs pos="0">
                  <a:srgbClr val="AFAFAF"/>
                </a:gs>
                <a:gs pos="50000">
                  <a:schemeClr val="accent3"/>
                </a:gs>
                <a:gs pos="100000">
                  <a:srgbClr val="91919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7"/>
            <p:cNvSpPr txBox="1"/>
            <p:nvPr/>
          </p:nvSpPr>
          <p:spPr>
            <a:xfrm>
              <a:off x="30260" y="30646"/>
              <a:ext cx="2065156" cy="559368"/>
            </a:xfrm>
            <a:prstGeom prst="rect">
              <a:avLst/>
            </a:prstGeom>
            <a:noFill/>
            <a:ln>
              <a:noFill/>
            </a:ln>
          </p:spPr>
          <p:txBody>
            <a:bodyPr spcFirstLastPara="1" wrap="square" lIns="76200" tIns="38100" rIns="76200" bIns="381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AR" sz="2000">
                  <a:solidFill>
                    <a:schemeClr val="lt1"/>
                  </a:solidFill>
                  <a:latin typeface="Calibri"/>
                  <a:ea typeface="Calibri"/>
                  <a:cs typeface="Calibri"/>
                  <a:sym typeface="Calibri"/>
                </a:rPr>
                <a:t>Qué</a:t>
              </a:r>
              <a:endParaRPr sz="2000">
                <a:solidFill>
                  <a:schemeClr val="lt1"/>
                </a:solidFill>
                <a:latin typeface="Calibri"/>
                <a:ea typeface="Calibri"/>
                <a:cs typeface="Calibri"/>
                <a:sym typeface="Calibri"/>
              </a:endParaRPr>
            </a:p>
          </p:txBody>
        </p:sp>
        <p:sp>
          <p:nvSpPr>
            <p:cNvPr id="146" name="Google Shape;146;p17"/>
            <p:cNvSpPr/>
            <p:nvPr/>
          </p:nvSpPr>
          <p:spPr>
            <a:xfrm rot="5400000">
              <a:off x="3767210" y="-928275"/>
              <a:ext cx="495911" cy="3778979"/>
            </a:xfrm>
            <a:prstGeom prst="round2SameRect">
              <a:avLst>
                <a:gd name="adj1" fmla="val 16667"/>
                <a:gd name="adj2" fmla="val 0"/>
              </a:avLst>
            </a:prstGeom>
            <a:solidFill>
              <a:srgbClr val="E5DADA">
                <a:alpha val="90196"/>
              </a:srgbClr>
            </a:solidFill>
            <a:ln w="9525" cap="flat" cmpd="sng">
              <a:solidFill>
                <a:srgbClr val="E5DADA">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7"/>
            <p:cNvSpPr txBox="1"/>
            <p:nvPr/>
          </p:nvSpPr>
          <p:spPr>
            <a:xfrm>
              <a:off x="2125676" y="737467"/>
              <a:ext cx="3754771" cy="447495"/>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s-AR" sz="1600" b="0" i="0" u="none" strike="noStrike" cap="none">
                  <a:solidFill>
                    <a:schemeClr val="dk1"/>
                  </a:solidFill>
                  <a:latin typeface="Calibri"/>
                  <a:ea typeface="Calibri"/>
                  <a:cs typeface="Calibri"/>
                  <a:sym typeface="Calibri"/>
                </a:rPr>
                <a:t>Definición del equipo de Proyecto</a:t>
              </a:r>
              <a:endParaRPr sz="1600" b="0" i="0" u="none" strike="noStrike" cap="none">
                <a:solidFill>
                  <a:schemeClr val="dk1"/>
                </a:solidFill>
                <a:latin typeface="Calibri"/>
                <a:ea typeface="Calibri"/>
                <a:cs typeface="Calibri"/>
                <a:sym typeface="Calibri"/>
              </a:endParaRPr>
            </a:p>
          </p:txBody>
        </p:sp>
        <p:sp>
          <p:nvSpPr>
            <p:cNvPr id="148" name="Google Shape;148;p17"/>
            <p:cNvSpPr/>
            <p:nvPr/>
          </p:nvSpPr>
          <p:spPr>
            <a:xfrm>
              <a:off x="0" y="651270"/>
              <a:ext cx="2125676" cy="619888"/>
            </a:xfrm>
            <a:prstGeom prst="roundRect">
              <a:avLst>
                <a:gd name="adj" fmla="val 16667"/>
              </a:avLst>
            </a:prstGeom>
            <a:gradFill>
              <a:gsLst>
                <a:gs pos="0">
                  <a:srgbClr val="B69999"/>
                </a:gs>
                <a:gs pos="50000">
                  <a:srgbClr val="AF8B8B"/>
                </a:gs>
                <a:gs pos="100000">
                  <a:srgbClr val="9C787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7"/>
            <p:cNvSpPr txBox="1"/>
            <p:nvPr/>
          </p:nvSpPr>
          <p:spPr>
            <a:xfrm>
              <a:off x="30260" y="681530"/>
              <a:ext cx="2065156" cy="559368"/>
            </a:xfrm>
            <a:prstGeom prst="rect">
              <a:avLst/>
            </a:prstGeom>
            <a:noFill/>
            <a:ln>
              <a:noFill/>
            </a:ln>
          </p:spPr>
          <p:txBody>
            <a:bodyPr spcFirstLastPara="1" wrap="square" lIns="76200" tIns="38100" rIns="76200" bIns="381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AR" sz="2000">
                  <a:solidFill>
                    <a:schemeClr val="lt1"/>
                  </a:solidFill>
                  <a:latin typeface="Calibri"/>
                  <a:ea typeface="Calibri"/>
                  <a:cs typeface="Calibri"/>
                  <a:sym typeface="Calibri"/>
                </a:rPr>
                <a:t>Quién</a:t>
              </a:r>
              <a:endParaRPr sz="2000">
                <a:solidFill>
                  <a:schemeClr val="lt1"/>
                </a:solidFill>
                <a:latin typeface="Calibri"/>
                <a:ea typeface="Calibri"/>
                <a:cs typeface="Calibri"/>
                <a:sym typeface="Calibri"/>
              </a:endParaRPr>
            </a:p>
          </p:txBody>
        </p:sp>
        <p:sp>
          <p:nvSpPr>
            <p:cNvPr id="150" name="Google Shape;150;p17"/>
            <p:cNvSpPr/>
            <p:nvPr/>
          </p:nvSpPr>
          <p:spPr>
            <a:xfrm rot="5400000">
              <a:off x="3767210" y="-277391"/>
              <a:ext cx="495911" cy="3778979"/>
            </a:xfrm>
            <a:prstGeom prst="round2SameRect">
              <a:avLst>
                <a:gd name="adj1" fmla="val 16667"/>
                <a:gd name="adj2" fmla="val 0"/>
              </a:avLst>
            </a:prstGeom>
            <a:solidFill>
              <a:srgbClr val="EBD7D7">
                <a:alpha val="90196"/>
              </a:srgbClr>
            </a:solidFill>
            <a:ln w="9525" cap="flat" cmpd="sng">
              <a:solidFill>
                <a:srgbClr val="EBD7D7">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7"/>
            <p:cNvSpPr txBox="1"/>
            <p:nvPr/>
          </p:nvSpPr>
          <p:spPr>
            <a:xfrm>
              <a:off x="2125676" y="1388351"/>
              <a:ext cx="3754771" cy="447495"/>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s-AR" sz="1600" b="0" i="0" u="none" strike="noStrike" cap="none">
                  <a:solidFill>
                    <a:schemeClr val="dk1"/>
                  </a:solidFill>
                  <a:latin typeface="Calibri"/>
                  <a:ea typeface="Calibri"/>
                  <a:cs typeface="Calibri"/>
                  <a:sym typeface="Calibri"/>
                </a:rPr>
                <a:t>Método de ejecución de cada tarea</a:t>
              </a:r>
              <a:endParaRPr sz="1600" b="0" i="0" u="none" strike="noStrike" cap="none">
                <a:solidFill>
                  <a:schemeClr val="dk1"/>
                </a:solidFill>
                <a:latin typeface="Calibri"/>
                <a:ea typeface="Calibri"/>
                <a:cs typeface="Calibri"/>
                <a:sym typeface="Calibri"/>
              </a:endParaRPr>
            </a:p>
          </p:txBody>
        </p:sp>
        <p:sp>
          <p:nvSpPr>
            <p:cNvPr id="152" name="Google Shape;152;p17"/>
            <p:cNvSpPr/>
            <p:nvPr/>
          </p:nvSpPr>
          <p:spPr>
            <a:xfrm>
              <a:off x="0" y="1302153"/>
              <a:ext cx="2125676" cy="619888"/>
            </a:xfrm>
            <a:prstGeom prst="roundRect">
              <a:avLst>
                <a:gd name="adj" fmla="val 16667"/>
              </a:avLst>
            </a:prstGeom>
            <a:gradFill>
              <a:gsLst>
                <a:gs pos="0">
                  <a:srgbClr val="C18585"/>
                </a:gs>
                <a:gs pos="50000">
                  <a:srgbClr val="BB7272"/>
                </a:gs>
                <a:gs pos="100000">
                  <a:srgbClr val="A86060"/>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7"/>
            <p:cNvSpPr txBox="1"/>
            <p:nvPr/>
          </p:nvSpPr>
          <p:spPr>
            <a:xfrm>
              <a:off x="30260" y="1332413"/>
              <a:ext cx="2065156" cy="559368"/>
            </a:xfrm>
            <a:prstGeom prst="rect">
              <a:avLst/>
            </a:prstGeom>
            <a:noFill/>
            <a:ln>
              <a:noFill/>
            </a:ln>
          </p:spPr>
          <p:txBody>
            <a:bodyPr spcFirstLastPara="1" wrap="square" lIns="76200" tIns="38100" rIns="76200" bIns="381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AR" sz="2000">
                  <a:solidFill>
                    <a:schemeClr val="lt1"/>
                  </a:solidFill>
                  <a:latin typeface="Calibri"/>
                  <a:ea typeface="Calibri"/>
                  <a:cs typeface="Calibri"/>
                  <a:sym typeface="Calibri"/>
                </a:rPr>
                <a:t>Cómo</a:t>
              </a:r>
              <a:endParaRPr sz="2000">
                <a:solidFill>
                  <a:schemeClr val="lt1"/>
                </a:solidFill>
                <a:latin typeface="Calibri"/>
                <a:ea typeface="Calibri"/>
                <a:cs typeface="Calibri"/>
                <a:sym typeface="Calibri"/>
              </a:endParaRPr>
            </a:p>
          </p:txBody>
        </p:sp>
        <p:sp>
          <p:nvSpPr>
            <p:cNvPr id="154" name="Google Shape;154;p17"/>
            <p:cNvSpPr/>
            <p:nvPr/>
          </p:nvSpPr>
          <p:spPr>
            <a:xfrm rot="5400000">
              <a:off x="3767210" y="373491"/>
              <a:ext cx="495911" cy="3778979"/>
            </a:xfrm>
            <a:prstGeom prst="round2SameRect">
              <a:avLst>
                <a:gd name="adj1" fmla="val 16667"/>
                <a:gd name="adj2" fmla="val 0"/>
              </a:avLst>
            </a:prstGeom>
            <a:solidFill>
              <a:srgbClr val="F0D3D3">
                <a:alpha val="90196"/>
              </a:srgbClr>
            </a:solidFill>
            <a:ln w="9525" cap="flat" cmpd="sng">
              <a:solidFill>
                <a:srgbClr val="F0D3D3">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7"/>
            <p:cNvSpPr txBox="1"/>
            <p:nvPr/>
          </p:nvSpPr>
          <p:spPr>
            <a:xfrm>
              <a:off x="2125676" y="2039233"/>
              <a:ext cx="3754771" cy="447495"/>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s-AR" sz="1600" b="0" i="0" u="none" strike="noStrike" cap="none">
                  <a:solidFill>
                    <a:schemeClr val="dk1"/>
                  </a:solidFill>
                  <a:latin typeface="Calibri"/>
                  <a:ea typeface="Calibri"/>
                  <a:cs typeface="Calibri"/>
                  <a:sym typeface="Calibri"/>
                </a:rPr>
                <a:t>Oportunidad y secuencia en que debe hacerse la tarea</a:t>
              </a:r>
              <a:endParaRPr sz="1600" b="0" i="0" u="none" strike="noStrike" cap="none">
                <a:solidFill>
                  <a:schemeClr val="dk1"/>
                </a:solidFill>
                <a:latin typeface="Calibri"/>
                <a:ea typeface="Calibri"/>
                <a:cs typeface="Calibri"/>
                <a:sym typeface="Calibri"/>
              </a:endParaRPr>
            </a:p>
          </p:txBody>
        </p:sp>
        <p:sp>
          <p:nvSpPr>
            <p:cNvPr id="156" name="Google Shape;156;p17"/>
            <p:cNvSpPr/>
            <p:nvPr/>
          </p:nvSpPr>
          <p:spPr>
            <a:xfrm>
              <a:off x="0" y="1953037"/>
              <a:ext cx="2125676" cy="619888"/>
            </a:xfrm>
            <a:prstGeom prst="roundRect">
              <a:avLst>
                <a:gd name="adj" fmla="val 16667"/>
              </a:avLst>
            </a:prstGeom>
            <a:gradFill>
              <a:gsLst>
                <a:gs pos="0">
                  <a:srgbClr val="CE7070"/>
                </a:gs>
                <a:gs pos="50000">
                  <a:srgbClr val="CD5454"/>
                </a:gs>
                <a:gs pos="100000">
                  <a:srgbClr val="BB4343"/>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7"/>
            <p:cNvSpPr txBox="1"/>
            <p:nvPr/>
          </p:nvSpPr>
          <p:spPr>
            <a:xfrm>
              <a:off x="30260" y="1983297"/>
              <a:ext cx="2065156" cy="559368"/>
            </a:xfrm>
            <a:prstGeom prst="rect">
              <a:avLst/>
            </a:prstGeom>
            <a:noFill/>
            <a:ln>
              <a:noFill/>
            </a:ln>
          </p:spPr>
          <p:txBody>
            <a:bodyPr spcFirstLastPara="1" wrap="square" lIns="76200" tIns="38100" rIns="76200" bIns="381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AR" sz="2000">
                  <a:solidFill>
                    <a:schemeClr val="lt1"/>
                  </a:solidFill>
                  <a:latin typeface="Calibri"/>
                  <a:ea typeface="Calibri"/>
                  <a:cs typeface="Calibri"/>
                  <a:sym typeface="Calibri"/>
                </a:rPr>
                <a:t>Cuándo</a:t>
              </a:r>
              <a:endParaRPr sz="2000">
                <a:solidFill>
                  <a:schemeClr val="lt1"/>
                </a:solidFill>
                <a:latin typeface="Calibri"/>
                <a:ea typeface="Calibri"/>
                <a:cs typeface="Calibri"/>
                <a:sym typeface="Calibri"/>
              </a:endParaRPr>
            </a:p>
          </p:txBody>
        </p:sp>
        <p:sp>
          <p:nvSpPr>
            <p:cNvPr id="158" name="Google Shape;158;p17"/>
            <p:cNvSpPr/>
            <p:nvPr/>
          </p:nvSpPr>
          <p:spPr>
            <a:xfrm rot="5400000">
              <a:off x="3767210" y="1024375"/>
              <a:ext cx="495911" cy="3778979"/>
            </a:xfrm>
            <a:prstGeom prst="round2SameRect">
              <a:avLst>
                <a:gd name="adj1" fmla="val 16667"/>
                <a:gd name="adj2" fmla="val 0"/>
              </a:avLst>
            </a:prstGeom>
            <a:solidFill>
              <a:srgbClr val="F5CFCF">
                <a:alpha val="90196"/>
              </a:srgbClr>
            </a:solidFill>
            <a:ln w="9525" cap="flat" cmpd="sng">
              <a:solidFill>
                <a:srgbClr val="F5CFCF">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7"/>
            <p:cNvSpPr txBox="1"/>
            <p:nvPr/>
          </p:nvSpPr>
          <p:spPr>
            <a:xfrm>
              <a:off x="2125676" y="2690117"/>
              <a:ext cx="3754771" cy="447495"/>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s-AR" sz="1600" b="0" i="0" u="none" strike="noStrike" cap="none">
                  <a:solidFill>
                    <a:schemeClr val="dk1"/>
                  </a:solidFill>
                  <a:latin typeface="Calibri"/>
                  <a:ea typeface="Calibri"/>
                  <a:cs typeface="Calibri"/>
                  <a:sym typeface="Calibri"/>
                </a:rPr>
                <a:t>Lugar físico o etapa del proceso</a:t>
              </a:r>
              <a:endParaRPr sz="1600" b="0" i="0" u="none" strike="noStrike" cap="none">
                <a:solidFill>
                  <a:schemeClr val="dk1"/>
                </a:solidFill>
                <a:latin typeface="Calibri"/>
                <a:ea typeface="Calibri"/>
                <a:cs typeface="Calibri"/>
                <a:sym typeface="Calibri"/>
              </a:endParaRPr>
            </a:p>
          </p:txBody>
        </p:sp>
        <p:sp>
          <p:nvSpPr>
            <p:cNvPr id="160" name="Google Shape;160;p17"/>
            <p:cNvSpPr/>
            <p:nvPr/>
          </p:nvSpPr>
          <p:spPr>
            <a:xfrm>
              <a:off x="0" y="2603920"/>
              <a:ext cx="2125676" cy="619888"/>
            </a:xfrm>
            <a:prstGeom prst="roundRect">
              <a:avLst>
                <a:gd name="adj" fmla="val 16667"/>
              </a:avLst>
            </a:prstGeom>
            <a:gradFill>
              <a:gsLst>
                <a:gs pos="0">
                  <a:srgbClr val="DC5B5B"/>
                </a:gs>
                <a:gs pos="50000">
                  <a:srgbClr val="DF3535"/>
                </a:gs>
                <a:gs pos="100000">
                  <a:srgbClr val="CD262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7"/>
            <p:cNvSpPr txBox="1"/>
            <p:nvPr/>
          </p:nvSpPr>
          <p:spPr>
            <a:xfrm>
              <a:off x="30260" y="2634180"/>
              <a:ext cx="2065156" cy="559368"/>
            </a:xfrm>
            <a:prstGeom prst="rect">
              <a:avLst/>
            </a:prstGeom>
            <a:noFill/>
            <a:ln>
              <a:noFill/>
            </a:ln>
          </p:spPr>
          <p:txBody>
            <a:bodyPr spcFirstLastPara="1" wrap="square" lIns="76200" tIns="38100" rIns="76200" bIns="381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AR" sz="2000">
                  <a:solidFill>
                    <a:schemeClr val="lt1"/>
                  </a:solidFill>
                  <a:latin typeface="Calibri"/>
                  <a:ea typeface="Calibri"/>
                  <a:cs typeface="Calibri"/>
                  <a:sym typeface="Calibri"/>
                </a:rPr>
                <a:t>Dónde</a:t>
              </a:r>
              <a:endParaRPr sz="2000">
                <a:solidFill>
                  <a:schemeClr val="lt1"/>
                </a:solidFill>
                <a:latin typeface="Calibri"/>
                <a:ea typeface="Calibri"/>
                <a:cs typeface="Calibri"/>
                <a:sym typeface="Calibri"/>
              </a:endParaRPr>
            </a:p>
          </p:txBody>
        </p:sp>
        <p:sp>
          <p:nvSpPr>
            <p:cNvPr id="162" name="Google Shape;162;p17"/>
            <p:cNvSpPr/>
            <p:nvPr/>
          </p:nvSpPr>
          <p:spPr>
            <a:xfrm rot="5400000">
              <a:off x="3767210" y="1675258"/>
              <a:ext cx="495911" cy="3778979"/>
            </a:xfrm>
            <a:prstGeom prst="round2SameRect">
              <a:avLst>
                <a:gd name="adj1" fmla="val 16667"/>
                <a:gd name="adj2" fmla="val 0"/>
              </a:avLst>
            </a:prstGeom>
            <a:solidFill>
              <a:srgbClr val="F9CCCC">
                <a:alpha val="90196"/>
              </a:srgbClr>
            </a:solidFill>
            <a:ln w="9525" cap="flat" cmpd="sng">
              <a:solidFill>
                <a:srgbClr val="F9CCCC">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7"/>
            <p:cNvSpPr txBox="1"/>
            <p:nvPr/>
          </p:nvSpPr>
          <p:spPr>
            <a:xfrm>
              <a:off x="2125676" y="3341000"/>
              <a:ext cx="3754771" cy="447495"/>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s-AR" sz="1600" b="0" i="0" u="none" strike="noStrike" cap="none">
                  <a:solidFill>
                    <a:schemeClr val="dk1"/>
                  </a:solidFill>
                  <a:latin typeface="Calibri"/>
                  <a:ea typeface="Calibri"/>
                  <a:cs typeface="Calibri"/>
                  <a:sym typeface="Calibri"/>
                </a:rPr>
                <a:t>Recursos como Instrumentos, materiales y entregables</a:t>
              </a:r>
              <a:endParaRPr sz="1600" b="0" i="0" u="none" strike="noStrike" cap="none">
                <a:solidFill>
                  <a:schemeClr val="dk1"/>
                </a:solidFill>
                <a:latin typeface="Calibri"/>
                <a:ea typeface="Calibri"/>
                <a:cs typeface="Calibri"/>
                <a:sym typeface="Calibri"/>
              </a:endParaRPr>
            </a:p>
          </p:txBody>
        </p:sp>
        <p:sp>
          <p:nvSpPr>
            <p:cNvPr id="164" name="Google Shape;164;p17"/>
            <p:cNvSpPr/>
            <p:nvPr/>
          </p:nvSpPr>
          <p:spPr>
            <a:xfrm>
              <a:off x="0" y="3254803"/>
              <a:ext cx="2125676" cy="619888"/>
            </a:xfrm>
            <a:prstGeom prst="roundRect">
              <a:avLst>
                <a:gd name="adj" fmla="val 16667"/>
              </a:avLst>
            </a:prstGeom>
            <a:gradFill>
              <a:gsLst>
                <a:gs pos="0">
                  <a:srgbClr val="ED4D4D"/>
                </a:gs>
                <a:gs pos="50000">
                  <a:srgbClr val="F31616"/>
                </a:gs>
                <a:gs pos="100000">
                  <a:srgbClr val="E1080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7"/>
            <p:cNvSpPr txBox="1"/>
            <p:nvPr/>
          </p:nvSpPr>
          <p:spPr>
            <a:xfrm>
              <a:off x="30260" y="3285063"/>
              <a:ext cx="2065156" cy="559368"/>
            </a:xfrm>
            <a:prstGeom prst="rect">
              <a:avLst/>
            </a:prstGeom>
            <a:noFill/>
            <a:ln>
              <a:noFill/>
            </a:ln>
          </p:spPr>
          <p:txBody>
            <a:bodyPr spcFirstLastPara="1" wrap="square" lIns="76200" tIns="38100" rIns="76200" bIns="381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AR" sz="2000">
                  <a:solidFill>
                    <a:schemeClr val="lt1"/>
                  </a:solidFill>
                  <a:latin typeface="Calibri"/>
                  <a:ea typeface="Calibri"/>
                  <a:cs typeface="Calibri"/>
                  <a:sym typeface="Calibri"/>
                </a:rPr>
                <a:t>Con qué </a:t>
              </a:r>
              <a:endParaRPr sz="2000">
                <a:solidFill>
                  <a:schemeClr val="lt1"/>
                </a:solidFill>
                <a:latin typeface="Calibri"/>
                <a:ea typeface="Calibri"/>
                <a:cs typeface="Calibri"/>
                <a:sym typeface="Calibri"/>
              </a:endParaRPr>
            </a:p>
          </p:txBody>
        </p:sp>
        <p:sp>
          <p:nvSpPr>
            <p:cNvPr id="166" name="Google Shape;166;p17"/>
            <p:cNvSpPr/>
            <p:nvPr/>
          </p:nvSpPr>
          <p:spPr>
            <a:xfrm rot="5400000">
              <a:off x="3767210" y="2326141"/>
              <a:ext cx="495911" cy="3778979"/>
            </a:xfrm>
            <a:prstGeom prst="round2SameRect">
              <a:avLst>
                <a:gd name="adj1" fmla="val 16667"/>
                <a:gd name="adj2" fmla="val 0"/>
              </a:avLst>
            </a:prstGeom>
            <a:solidFill>
              <a:srgbClr val="FFCACA">
                <a:alpha val="90196"/>
              </a:srgbClr>
            </a:solidFill>
            <a:ln w="9525" cap="flat" cmpd="sng">
              <a:solidFill>
                <a:srgbClr val="FFCACA">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7"/>
            <p:cNvSpPr txBox="1"/>
            <p:nvPr/>
          </p:nvSpPr>
          <p:spPr>
            <a:xfrm>
              <a:off x="2125676" y="3991883"/>
              <a:ext cx="3754771" cy="447495"/>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pPr>
              <a:r>
                <a:rPr lang="es-AR" sz="1600" b="0" i="0" u="none" strike="noStrike" cap="none">
                  <a:solidFill>
                    <a:schemeClr val="dk1"/>
                  </a:solidFill>
                  <a:latin typeface="Calibri"/>
                  <a:ea typeface="Calibri"/>
                  <a:cs typeface="Calibri"/>
                  <a:sym typeface="Calibri"/>
                </a:rPr>
                <a:t>A qué puesto se deberá informar o proveer</a:t>
              </a:r>
              <a:endParaRPr sz="1600" b="0" i="0" u="none" strike="noStrike" cap="none">
                <a:solidFill>
                  <a:schemeClr val="dk1"/>
                </a:solidFill>
                <a:latin typeface="Calibri"/>
                <a:ea typeface="Calibri"/>
                <a:cs typeface="Calibri"/>
                <a:sym typeface="Calibri"/>
              </a:endParaRPr>
            </a:p>
          </p:txBody>
        </p:sp>
        <p:sp>
          <p:nvSpPr>
            <p:cNvPr id="168" name="Google Shape;168;p17"/>
            <p:cNvSpPr/>
            <p:nvPr/>
          </p:nvSpPr>
          <p:spPr>
            <a:xfrm>
              <a:off x="0" y="3905687"/>
              <a:ext cx="2125676" cy="619888"/>
            </a:xfrm>
            <a:prstGeom prst="roundRect">
              <a:avLst>
                <a:gd name="adj" fmla="val 16667"/>
              </a:avLst>
            </a:prstGeom>
            <a:gradFill>
              <a:gsLst>
                <a:gs pos="0">
                  <a:srgbClr val="FF4747"/>
                </a:gs>
                <a:gs pos="50000">
                  <a:srgbClr val="FF0000"/>
                </a:gs>
                <a:gs pos="100000">
                  <a:srgbClr val="E30000"/>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7"/>
            <p:cNvSpPr txBox="1"/>
            <p:nvPr/>
          </p:nvSpPr>
          <p:spPr>
            <a:xfrm>
              <a:off x="30260" y="3935947"/>
              <a:ext cx="2065156" cy="559368"/>
            </a:xfrm>
            <a:prstGeom prst="rect">
              <a:avLst/>
            </a:prstGeom>
            <a:noFill/>
            <a:ln>
              <a:noFill/>
            </a:ln>
          </p:spPr>
          <p:txBody>
            <a:bodyPr spcFirstLastPara="1" wrap="square" lIns="76200" tIns="38100" rIns="76200" bIns="38100" anchor="ctr" anchorCtr="0">
              <a:noAutofit/>
            </a:bodyPr>
            <a:lstStyle/>
            <a:p>
              <a:pPr marL="0" marR="0" lvl="0" indent="0" algn="ctr" rtl="0">
                <a:lnSpc>
                  <a:spcPct val="90000"/>
                </a:lnSpc>
                <a:spcBef>
                  <a:spcPts val="0"/>
                </a:spcBef>
                <a:spcAft>
                  <a:spcPts val="0"/>
                </a:spcAft>
                <a:buClr>
                  <a:schemeClr val="lt1"/>
                </a:buClr>
                <a:buSzPts val="2000"/>
                <a:buFont typeface="Calibri"/>
                <a:buNone/>
              </a:pPr>
              <a:r>
                <a:rPr lang="es-AR" sz="2000">
                  <a:solidFill>
                    <a:schemeClr val="lt1"/>
                  </a:solidFill>
                  <a:latin typeface="Calibri"/>
                  <a:ea typeface="Calibri"/>
                  <a:cs typeface="Calibri"/>
                  <a:sym typeface="Calibri"/>
                </a:rPr>
                <a:t>A quién </a:t>
              </a:r>
              <a:endParaRPr sz="2000">
                <a:solidFill>
                  <a:schemeClr val="lt1"/>
                </a:solidFill>
                <a:latin typeface="Calibri"/>
                <a:ea typeface="Calibri"/>
                <a:cs typeface="Calibri"/>
                <a:sym typeface="Calibri"/>
              </a:endParaRPr>
            </a:p>
          </p:txBody>
        </p:sp>
      </p:grpSp>
      <p:sp>
        <p:nvSpPr>
          <p:cNvPr id="170" name="Google Shape;170;p17"/>
          <p:cNvSpPr/>
          <p:nvPr/>
        </p:nvSpPr>
        <p:spPr>
          <a:xfrm rot="5400000">
            <a:off x="8457900" y="229587"/>
            <a:ext cx="495900" cy="3779100"/>
          </a:xfrm>
          <a:prstGeom prst="round2SameRect">
            <a:avLst>
              <a:gd name="adj1" fmla="val 16667"/>
              <a:gd name="adj2" fmla="val 0"/>
            </a:avLst>
          </a:prstGeom>
          <a:solidFill>
            <a:srgbClr val="E0E0E0">
              <a:alpha val="90196"/>
            </a:srgbClr>
          </a:solidFill>
          <a:ln w="9525" cap="flat" cmpd="sng">
            <a:solidFill>
              <a:srgbClr val="E0E0E0">
                <a:alpha val="90196"/>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71" name="Google Shape;171;p17"/>
          <p:cNvSpPr txBox="1"/>
          <p:nvPr/>
        </p:nvSpPr>
        <p:spPr>
          <a:xfrm>
            <a:off x="6816483" y="1899082"/>
            <a:ext cx="3754800" cy="447600"/>
          </a:xfrm>
          <a:prstGeom prst="rect">
            <a:avLst/>
          </a:prstGeom>
          <a:noFill/>
          <a:ln>
            <a:noFill/>
          </a:ln>
        </p:spPr>
        <p:txBody>
          <a:bodyPr spcFirstLastPara="1" wrap="square" lIns="247650" tIns="123825" rIns="247650" bIns="123825" anchor="ctr" anchorCtr="0">
            <a:noAutofit/>
          </a:bodyPr>
          <a:lstStyle/>
          <a:p>
            <a:pPr marL="0" marR="0" lvl="1" indent="0" algn="l" rtl="0">
              <a:lnSpc>
                <a:spcPct val="90000"/>
              </a:lnSpc>
              <a:spcBef>
                <a:spcPts val="0"/>
              </a:spcBef>
              <a:spcAft>
                <a:spcPts val="0"/>
              </a:spcAft>
              <a:buNone/>
            </a:pPr>
            <a:r>
              <a:rPr lang="es-AR" sz="1600">
                <a:solidFill>
                  <a:schemeClr val="dk1"/>
                </a:solidFill>
                <a:latin typeface="Calibri"/>
                <a:ea typeface="Calibri"/>
                <a:cs typeface="Calibri"/>
                <a:sym typeface="Calibri"/>
              </a:rPr>
              <a:t>Solución para registrar participantes y tomar asistencia. </a:t>
            </a:r>
            <a:endParaRPr sz="1600" b="0" i="0" u="none" strike="noStrike" cap="none">
              <a:solidFill>
                <a:schemeClr val="dk1"/>
              </a:solidFill>
              <a:latin typeface="Calibri"/>
              <a:ea typeface="Calibri"/>
              <a:cs typeface="Calibri"/>
              <a:sym typeface="Calibri"/>
            </a:endParaRPr>
          </a:p>
        </p:txBody>
      </p:sp>
      <p:grpSp>
        <p:nvGrpSpPr>
          <p:cNvPr id="172" name="Google Shape;172;p17"/>
          <p:cNvGrpSpPr/>
          <p:nvPr/>
        </p:nvGrpSpPr>
        <p:grpSpPr>
          <a:xfrm>
            <a:off x="6595175" y="2507775"/>
            <a:ext cx="4515323" cy="507475"/>
            <a:chOff x="1858347" y="713752"/>
            <a:chExt cx="5031000" cy="507475"/>
          </a:xfrm>
        </p:grpSpPr>
        <p:sp>
          <p:nvSpPr>
            <p:cNvPr id="173" name="Google Shape;173;p17"/>
            <p:cNvSpPr/>
            <p:nvPr/>
          </p:nvSpPr>
          <p:spPr>
            <a:xfrm rot="5400000">
              <a:off x="4259791" y="-1420448"/>
              <a:ext cx="495300" cy="4763700"/>
            </a:xfrm>
            <a:prstGeom prst="round2SameRect">
              <a:avLst>
                <a:gd name="adj1" fmla="val 16667"/>
                <a:gd name="adj2" fmla="val 0"/>
              </a:avLst>
            </a:prstGeom>
            <a:solidFill>
              <a:srgbClr val="E5DADA">
                <a:alpha val="90196"/>
              </a:srgbClr>
            </a:solidFill>
            <a:ln w="9525" cap="flat" cmpd="sng">
              <a:solidFill>
                <a:srgbClr val="E5DADA">
                  <a:alpha val="90196"/>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74" name="Google Shape;174;p17"/>
            <p:cNvSpPr txBox="1"/>
            <p:nvPr/>
          </p:nvSpPr>
          <p:spPr>
            <a:xfrm>
              <a:off x="1858347" y="725327"/>
              <a:ext cx="5031000" cy="495900"/>
            </a:xfrm>
            <a:prstGeom prst="rect">
              <a:avLst/>
            </a:prstGeom>
            <a:noFill/>
            <a:ln>
              <a:noFill/>
            </a:ln>
          </p:spPr>
          <p:txBody>
            <a:bodyPr spcFirstLastPara="1" wrap="square" lIns="247650" tIns="123825" rIns="247650" bIns="123825" anchor="ctr" anchorCtr="0">
              <a:noAutofit/>
            </a:bodyPr>
            <a:lstStyle/>
            <a:p>
              <a:pPr marL="171450" marR="0" lvl="1" indent="-69850" algn="l" rtl="0">
                <a:lnSpc>
                  <a:spcPct val="90000"/>
                </a:lnSpc>
                <a:spcBef>
                  <a:spcPts val="0"/>
                </a:spcBef>
                <a:spcAft>
                  <a:spcPts val="0"/>
                </a:spcAft>
                <a:buClr>
                  <a:schemeClr val="dk1"/>
                </a:buClr>
                <a:buSzPts val="1600"/>
                <a:buFont typeface="Calibri"/>
                <a:buNone/>
              </a:pPr>
              <a:r>
                <a:rPr lang="es-AR" sz="1600">
                  <a:solidFill>
                    <a:schemeClr val="dk1"/>
                  </a:solidFill>
                  <a:latin typeface="Calibri"/>
                  <a:ea typeface="Calibri"/>
                  <a:cs typeface="Calibri"/>
                  <a:sym typeface="Calibri"/>
                </a:rPr>
                <a:t>Equipo 02, directores de coro y responsables de la ONG. </a:t>
              </a:r>
              <a:endParaRPr sz="1600" b="0" i="0" u="none" strike="noStrike" cap="none">
                <a:solidFill>
                  <a:schemeClr val="dk1"/>
                </a:solidFill>
                <a:latin typeface="Calibri"/>
                <a:ea typeface="Calibri"/>
                <a:cs typeface="Calibri"/>
                <a:sym typeface="Calibri"/>
              </a:endParaRPr>
            </a:p>
          </p:txBody>
        </p:sp>
      </p:grpSp>
      <p:sp>
        <p:nvSpPr>
          <p:cNvPr id="175" name="Google Shape;175;p17"/>
          <p:cNvSpPr/>
          <p:nvPr/>
        </p:nvSpPr>
        <p:spPr>
          <a:xfrm rot="5400000">
            <a:off x="9163650" y="842537"/>
            <a:ext cx="462600" cy="5157300"/>
          </a:xfrm>
          <a:prstGeom prst="round2SameRect">
            <a:avLst>
              <a:gd name="adj1" fmla="val 16667"/>
              <a:gd name="adj2" fmla="val 0"/>
            </a:avLst>
          </a:prstGeom>
          <a:solidFill>
            <a:srgbClr val="EBD7D7">
              <a:alpha val="90196"/>
            </a:srgbClr>
          </a:solidFill>
          <a:ln w="9525" cap="flat" cmpd="sng">
            <a:solidFill>
              <a:srgbClr val="EBD7D7">
                <a:alpha val="90196"/>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76" name="Google Shape;176;p17"/>
          <p:cNvSpPr txBox="1"/>
          <p:nvPr/>
        </p:nvSpPr>
        <p:spPr>
          <a:xfrm>
            <a:off x="6722926" y="3187950"/>
            <a:ext cx="5157300" cy="447600"/>
          </a:xfrm>
          <a:prstGeom prst="rect">
            <a:avLst/>
          </a:prstGeom>
          <a:noFill/>
          <a:ln>
            <a:noFill/>
          </a:ln>
        </p:spPr>
        <p:txBody>
          <a:bodyPr spcFirstLastPara="1" wrap="square" lIns="247650" tIns="123825" rIns="247650" bIns="123825" anchor="ctr" anchorCtr="0">
            <a:noAutofit/>
          </a:bodyPr>
          <a:lstStyle/>
          <a:p>
            <a:pPr marL="0" marR="0" lvl="1" indent="0" algn="l" rtl="0">
              <a:lnSpc>
                <a:spcPct val="90000"/>
              </a:lnSpc>
              <a:spcBef>
                <a:spcPts val="0"/>
              </a:spcBef>
              <a:spcAft>
                <a:spcPts val="0"/>
              </a:spcAft>
              <a:buClr>
                <a:schemeClr val="dk1"/>
              </a:buClr>
              <a:buSzPts val="1600"/>
              <a:buFont typeface="Calibri"/>
              <a:buNone/>
            </a:pPr>
            <a:r>
              <a:rPr lang="es-AR" sz="1600">
                <a:solidFill>
                  <a:schemeClr val="dk1"/>
                </a:solidFill>
                <a:latin typeface="Calibri"/>
                <a:ea typeface="Calibri"/>
                <a:cs typeface="Calibri"/>
                <a:sym typeface="Calibri"/>
              </a:rPr>
              <a:t>Registro desde un celular, incluso sin conexión. </a:t>
            </a:r>
            <a:endParaRPr sz="1600" b="0" i="0" u="none" strike="noStrike" cap="none">
              <a:solidFill>
                <a:schemeClr val="dk1"/>
              </a:solidFill>
              <a:latin typeface="Calibri"/>
              <a:ea typeface="Calibri"/>
              <a:cs typeface="Calibri"/>
              <a:sym typeface="Calibri"/>
            </a:endParaRPr>
          </a:p>
        </p:txBody>
      </p:sp>
      <p:sp>
        <p:nvSpPr>
          <p:cNvPr id="177" name="Google Shape;177;p17"/>
          <p:cNvSpPr/>
          <p:nvPr/>
        </p:nvSpPr>
        <p:spPr>
          <a:xfrm rot="5400000">
            <a:off x="8457950" y="2166673"/>
            <a:ext cx="495900" cy="3779100"/>
          </a:xfrm>
          <a:prstGeom prst="round2SameRect">
            <a:avLst>
              <a:gd name="adj1" fmla="val 16667"/>
              <a:gd name="adj2" fmla="val 0"/>
            </a:avLst>
          </a:prstGeom>
          <a:solidFill>
            <a:srgbClr val="F0D3D3">
              <a:alpha val="90196"/>
            </a:srgbClr>
          </a:solidFill>
          <a:ln w="9525" cap="flat" cmpd="sng">
            <a:solidFill>
              <a:srgbClr val="F0D3D3">
                <a:alpha val="90196"/>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78" name="Google Shape;178;p17"/>
          <p:cNvSpPr txBox="1"/>
          <p:nvPr/>
        </p:nvSpPr>
        <p:spPr>
          <a:xfrm>
            <a:off x="6595171" y="3832006"/>
            <a:ext cx="3754800" cy="447600"/>
          </a:xfrm>
          <a:prstGeom prst="rect">
            <a:avLst/>
          </a:prstGeom>
          <a:noFill/>
          <a:ln>
            <a:noFill/>
          </a:ln>
        </p:spPr>
        <p:txBody>
          <a:bodyPr spcFirstLastPara="1" wrap="square" lIns="247650" tIns="123825" rIns="247650" bIns="123825" anchor="ctr" anchorCtr="0">
            <a:noAutofit/>
          </a:bodyPr>
          <a:lstStyle/>
          <a:p>
            <a:pPr marL="171450" marR="0" lvl="1" indent="-69850" algn="l" rtl="0">
              <a:lnSpc>
                <a:spcPct val="90000"/>
              </a:lnSpc>
              <a:spcBef>
                <a:spcPts val="0"/>
              </a:spcBef>
              <a:spcAft>
                <a:spcPts val="0"/>
              </a:spcAft>
              <a:buClr>
                <a:schemeClr val="dk1"/>
              </a:buClr>
              <a:buSzPts val="1600"/>
              <a:buFont typeface="Calibri"/>
              <a:buNone/>
            </a:pPr>
            <a:r>
              <a:rPr lang="es-AR" sz="1600">
                <a:solidFill>
                  <a:schemeClr val="dk1"/>
                </a:solidFill>
                <a:latin typeface="Calibri"/>
                <a:ea typeface="Calibri"/>
                <a:cs typeface="Calibri"/>
                <a:sym typeface="Calibri"/>
              </a:rPr>
              <a:t>Desarrollo estimado en cuatro meses y prueba piloto. </a:t>
            </a:r>
            <a:endParaRPr sz="1600" b="0" i="0" u="none" strike="noStrike" cap="none">
              <a:solidFill>
                <a:schemeClr val="dk1"/>
              </a:solidFill>
              <a:latin typeface="Calibri"/>
              <a:ea typeface="Calibri"/>
              <a:cs typeface="Calibri"/>
              <a:sym typeface="Calibri"/>
            </a:endParaRPr>
          </a:p>
        </p:txBody>
      </p:sp>
      <p:sp>
        <p:nvSpPr>
          <p:cNvPr id="179" name="Google Shape;179;p17"/>
          <p:cNvSpPr/>
          <p:nvPr/>
        </p:nvSpPr>
        <p:spPr>
          <a:xfrm rot="5400000">
            <a:off x="8457950" y="2854070"/>
            <a:ext cx="495900" cy="3779100"/>
          </a:xfrm>
          <a:prstGeom prst="round2SameRect">
            <a:avLst>
              <a:gd name="adj1" fmla="val 16667"/>
              <a:gd name="adj2" fmla="val 0"/>
            </a:avLst>
          </a:prstGeom>
          <a:solidFill>
            <a:srgbClr val="F5CFCF">
              <a:alpha val="90196"/>
            </a:srgbClr>
          </a:solidFill>
          <a:ln w="9525" cap="flat" cmpd="sng">
            <a:solidFill>
              <a:srgbClr val="F5CFCF">
                <a:alpha val="90196"/>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80" name="Google Shape;180;p17"/>
          <p:cNvSpPr txBox="1"/>
          <p:nvPr/>
        </p:nvSpPr>
        <p:spPr>
          <a:xfrm>
            <a:off x="6595171" y="4495390"/>
            <a:ext cx="3754800" cy="447600"/>
          </a:xfrm>
          <a:prstGeom prst="rect">
            <a:avLst/>
          </a:prstGeom>
          <a:noFill/>
          <a:ln>
            <a:noFill/>
          </a:ln>
        </p:spPr>
        <p:txBody>
          <a:bodyPr spcFirstLastPara="1" wrap="square" lIns="247650" tIns="123825" rIns="247650" bIns="123825" anchor="ctr" anchorCtr="0">
            <a:noAutofit/>
          </a:bodyPr>
          <a:lstStyle/>
          <a:p>
            <a:pPr marL="171450" marR="0" lvl="1" indent="-69850" algn="l" rtl="0">
              <a:lnSpc>
                <a:spcPct val="90000"/>
              </a:lnSpc>
              <a:spcBef>
                <a:spcPts val="0"/>
              </a:spcBef>
              <a:spcAft>
                <a:spcPts val="0"/>
              </a:spcAft>
              <a:buClr>
                <a:schemeClr val="dk1"/>
              </a:buClr>
              <a:buSzPts val="1600"/>
              <a:buFont typeface="Calibri"/>
              <a:buNone/>
            </a:pPr>
            <a:r>
              <a:rPr lang="es-AR" sz="1600">
                <a:solidFill>
                  <a:schemeClr val="dk1"/>
                </a:solidFill>
                <a:latin typeface="Calibri"/>
                <a:ea typeface="Calibri"/>
                <a:cs typeface="Calibri"/>
                <a:sym typeface="Calibri"/>
              </a:rPr>
              <a:t>Actividades de Sembrar Cantando en Virreyes Oeste. </a:t>
            </a:r>
            <a:endParaRPr sz="1600" b="0" i="0" u="none" strike="noStrike" cap="none">
              <a:solidFill>
                <a:schemeClr val="dk1"/>
              </a:solidFill>
              <a:latin typeface="Calibri"/>
              <a:ea typeface="Calibri"/>
              <a:cs typeface="Calibri"/>
              <a:sym typeface="Calibri"/>
            </a:endParaRPr>
          </a:p>
        </p:txBody>
      </p:sp>
      <p:sp>
        <p:nvSpPr>
          <p:cNvPr id="181" name="Google Shape;181;p17"/>
          <p:cNvSpPr/>
          <p:nvPr/>
        </p:nvSpPr>
        <p:spPr>
          <a:xfrm rot="5400000">
            <a:off x="8691324" y="3235200"/>
            <a:ext cx="495900" cy="4245600"/>
          </a:xfrm>
          <a:prstGeom prst="round2SameRect">
            <a:avLst>
              <a:gd name="adj1" fmla="val 16667"/>
              <a:gd name="adj2" fmla="val 0"/>
            </a:avLst>
          </a:prstGeom>
          <a:solidFill>
            <a:srgbClr val="F9CCCC">
              <a:alpha val="90196"/>
            </a:srgbClr>
          </a:solidFill>
          <a:ln w="9525" cap="flat" cmpd="sng">
            <a:solidFill>
              <a:srgbClr val="F9CCCC">
                <a:alpha val="90196"/>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82" name="Google Shape;182;p17"/>
          <p:cNvSpPr txBox="1"/>
          <p:nvPr/>
        </p:nvSpPr>
        <p:spPr>
          <a:xfrm>
            <a:off x="6518351" y="5134200"/>
            <a:ext cx="4692900" cy="447600"/>
          </a:xfrm>
          <a:prstGeom prst="rect">
            <a:avLst/>
          </a:prstGeom>
          <a:noFill/>
          <a:ln>
            <a:noFill/>
          </a:ln>
        </p:spPr>
        <p:txBody>
          <a:bodyPr spcFirstLastPara="1" wrap="square" lIns="247650" tIns="123825" rIns="247650" bIns="123825" anchor="ctr" anchorCtr="0">
            <a:noAutofit/>
          </a:bodyPr>
          <a:lstStyle/>
          <a:p>
            <a:pPr marL="171450" marR="0" lvl="1" indent="-69850" algn="l" rtl="0">
              <a:lnSpc>
                <a:spcPct val="90000"/>
              </a:lnSpc>
              <a:spcBef>
                <a:spcPts val="0"/>
              </a:spcBef>
              <a:spcAft>
                <a:spcPts val="0"/>
              </a:spcAft>
              <a:buClr>
                <a:schemeClr val="dk1"/>
              </a:buClr>
              <a:buSzPts val="1600"/>
              <a:buFont typeface="Calibri"/>
              <a:buNone/>
            </a:pPr>
            <a:r>
              <a:rPr lang="es-AR" sz="1600">
                <a:solidFill>
                  <a:schemeClr val="dk1"/>
                </a:solidFill>
                <a:latin typeface="Calibri"/>
                <a:ea typeface="Calibri"/>
                <a:cs typeface="Calibri"/>
                <a:sym typeface="Calibri"/>
              </a:rPr>
              <a:t>Celulares personales, almacenamiento local y sincronización posterior. </a:t>
            </a:r>
            <a:endParaRPr sz="1600" b="0" i="0" u="none" strike="noStrike" cap="none">
              <a:solidFill>
                <a:schemeClr val="dk1"/>
              </a:solidFill>
              <a:latin typeface="Calibri"/>
              <a:ea typeface="Calibri"/>
              <a:cs typeface="Calibri"/>
              <a:sym typeface="Calibri"/>
            </a:endParaRPr>
          </a:p>
        </p:txBody>
      </p:sp>
      <p:sp>
        <p:nvSpPr>
          <p:cNvPr id="183" name="Google Shape;183;p17"/>
          <p:cNvSpPr/>
          <p:nvPr/>
        </p:nvSpPr>
        <p:spPr>
          <a:xfrm rot="5400000">
            <a:off x="8464150" y="4082823"/>
            <a:ext cx="495900" cy="3779100"/>
          </a:xfrm>
          <a:prstGeom prst="round2SameRect">
            <a:avLst>
              <a:gd name="adj1" fmla="val 16667"/>
              <a:gd name="adj2" fmla="val 0"/>
            </a:avLst>
          </a:prstGeom>
          <a:solidFill>
            <a:srgbClr val="FFCACA">
              <a:alpha val="90196"/>
            </a:srgbClr>
          </a:solidFill>
          <a:ln w="9525" cap="flat" cmpd="sng">
            <a:solidFill>
              <a:srgbClr val="FFCACA">
                <a:alpha val="90196"/>
              </a:srgbClr>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sp>
        <p:nvSpPr>
          <p:cNvPr id="184" name="Google Shape;184;p17"/>
          <p:cNvSpPr txBox="1"/>
          <p:nvPr/>
        </p:nvSpPr>
        <p:spPr>
          <a:xfrm>
            <a:off x="6595187" y="5724425"/>
            <a:ext cx="4060500" cy="447600"/>
          </a:xfrm>
          <a:prstGeom prst="rect">
            <a:avLst/>
          </a:prstGeom>
          <a:noFill/>
          <a:ln>
            <a:noFill/>
          </a:ln>
        </p:spPr>
        <p:txBody>
          <a:bodyPr spcFirstLastPara="1" wrap="square" lIns="247650" tIns="123825" rIns="247650" bIns="123825" anchor="ctr" anchorCtr="0">
            <a:noAutofit/>
          </a:bodyPr>
          <a:lstStyle/>
          <a:p>
            <a:pPr marL="171450" marR="0" lvl="1" indent="-69850" algn="l" rtl="0">
              <a:lnSpc>
                <a:spcPct val="90000"/>
              </a:lnSpc>
              <a:spcBef>
                <a:spcPts val="0"/>
              </a:spcBef>
              <a:spcAft>
                <a:spcPts val="0"/>
              </a:spcAft>
              <a:buClr>
                <a:schemeClr val="dk1"/>
              </a:buClr>
              <a:buSzPts val="1600"/>
              <a:buFont typeface="Calibri"/>
              <a:buNone/>
            </a:pPr>
            <a:r>
              <a:rPr lang="es-AR" sz="1600">
                <a:solidFill>
                  <a:schemeClr val="dk1"/>
                </a:solidFill>
                <a:latin typeface="Calibri"/>
                <a:ea typeface="Calibri"/>
                <a:cs typeface="Calibri"/>
                <a:sym typeface="Calibri"/>
              </a:rPr>
              <a:t>Coordinación de la ONG y directores de coro. </a:t>
            </a:r>
            <a:endParaRPr sz="1600" b="0" i="0" u="none" strike="noStrike" cap="none">
              <a:solidFill>
                <a:schemeClr val="dk1"/>
              </a:solidFill>
              <a:latin typeface="Calibri"/>
              <a:ea typeface="Calibri"/>
              <a:cs typeface="Calibri"/>
              <a:sym typeface="Calibri"/>
            </a:endParaRPr>
          </a:p>
        </p:txBody>
      </p:sp>
      <p:sp>
        <p:nvSpPr>
          <p:cNvPr id="185" name="Google Shape;185;p17"/>
          <p:cNvSpPr/>
          <p:nvPr/>
        </p:nvSpPr>
        <p:spPr>
          <a:xfrm>
            <a:off x="10545525" y="27225"/>
            <a:ext cx="1494000" cy="586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186" name="Google Shape;186;p17" title="Captura de pantalla 2026-08-09 a la(s) 6.17.13 p. m..png"/>
          <p:cNvPicPr preferRelativeResize="0"/>
          <p:nvPr/>
        </p:nvPicPr>
        <p:blipFill>
          <a:blip r:embed="rId3">
            <a:alphaModFix/>
          </a:blip>
          <a:stretch>
            <a:fillRect/>
          </a:stretch>
        </p:blipFill>
        <p:spPr>
          <a:xfrm>
            <a:off x="10865026" y="85376"/>
            <a:ext cx="870925" cy="1013435"/>
          </a:xfrm>
          <a:prstGeom prst="rect">
            <a:avLst/>
          </a:prstGeom>
          <a:noFill/>
          <a:ln>
            <a:noFill/>
          </a:ln>
        </p:spPr>
      </p:pic>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8"/>
          <p:cNvSpPr txBox="1"/>
          <p:nvPr/>
        </p:nvSpPr>
        <p:spPr>
          <a:xfrm>
            <a:off x="68050" y="1325050"/>
            <a:ext cx="4388700" cy="1877700"/>
          </a:xfrm>
          <a:prstGeom prst="rect">
            <a:avLst/>
          </a:prstGeom>
          <a:solidFill>
            <a:srgbClr val="DBDBDB"/>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800">
                <a:solidFill>
                  <a:schemeClr val="dk1"/>
                </a:solidFill>
                <a:latin typeface="Calibri"/>
                <a:ea typeface="Calibri"/>
                <a:cs typeface="Calibri"/>
                <a:sym typeface="Calibri"/>
              </a:rPr>
              <a:t>Fortalezas</a:t>
            </a:r>
            <a:endParaRPr/>
          </a:p>
          <a:p>
            <a:pPr marL="457200" lvl="0" indent="-317500" algn="l" rtl="0">
              <a:spcBef>
                <a:spcPts val="0"/>
              </a:spcBef>
              <a:spcAft>
                <a:spcPts val="0"/>
              </a:spcAft>
              <a:buSzPts val="1400"/>
              <a:buChar char="●"/>
            </a:pPr>
            <a:r>
              <a:rPr lang="es-AR"/>
              <a:t>Responde a una necesidad real.</a:t>
            </a:r>
            <a:endParaRPr/>
          </a:p>
          <a:p>
            <a:pPr marL="457200" lvl="0" indent="-317500" algn="l" rtl="0">
              <a:spcBef>
                <a:spcPts val="0"/>
              </a:spcBef>
              <a:spcAft>
                <a:spcPts val="0"/>
              </a:spcAft>
              <a:buSzPts val="1400"/>
              <a:buChar char="●"/>
            </a:pPr>
            <a:r>
              <a:rPr lang="es-AR"/>
              <a:t>El proceso de asistencia es simple: solo se registra presente.</a:t>
            </a:r>
            <a:endParaRPr/>
          </a:p>
          <a:p>
            <a:pPr marL="457200" lvl="0" indent="-317500" algn="l" rtl="0">
              <a:spcBef>
                <a:spcPts val="0"/>
              </a:spcBef>
              <a:spcAft>
                <a:spcPts val="0"/>
              </a:spcAft>
              <a:buSzPts val="1400"/>
              <a:buChar char="●"/>
            </a:pPr>
            <a:r>
              <a:rPr lang="es-AR"/>
              <a:t>Existen grupos y horarios definidos.</a:t>
            </a:r>
            <a:endParaRPr/>
          </a:p>
          <a:p>
            <a:pPr marL="457200" lvl="0" indent="-317500" algn="l" rtl="0">
              <a:spcBef>
                <a:spcPts val="0"/>
              </a:spcBef>
              <a:spcAft>
                <a:spcPts val="0"/>
              </a:spcAft>
              <a:buSzPts val="1400"/>
              <a:buChar char="●"/>
            </a:pPr>
            <a:r>
              <a:rPr lang="es-AR"/>
              <a:t>La ONG ya posee datos básicos de los participantes.</a:t>
            </a:r>
            <a:endParaRPr/>
          </a:p>
          <a:p>
            <a:pPr marL="457200" marR="0" lvl="0" indent="0" algn="l" rtl="0">
              <a:spcBef>
                <a:spcPts val="0"/>
              </a:spcBef>
              <a:spcAft>
                <a:spcPts val="0"/>
              </a:spcAft>
              <a:buNone/>
            </a:pPr>
            <a:endParaRPr/>
          </a:p>
        </p:txBody>
      </p:sp>
      <p:sp>
        <p:nvSpPr>
          <p:cNvPr id="192" name="Google Shape;192;p18"/>
          <p:cNvSpPr txBox="1"/>
          <p:nvPr/>
        </p:nvSpPr>
        <p:spPr>
          <a:xfrm>
            <a:off x="7607225" y="4546225"/>
            <a:ext cx="4326900" cy="2031900"/>
          </a:xfrm>
          <a:prstGeom prst="rect">
            <a:avLst/>
          </a:prstGeom>
          <a:solidFill>
            <a:srgbClr val="FF5050"/>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AR" sz="1800">
                <a:solidFill>
                  <a:schemeClr val="dk1"/>
                </a:solidFill>
                <a:latin typeface="Calibri"/>
                <a:ea typeface="Calibri"/>
                <a:cs typeface="Calibri"/>
                <a:sym typeface="Calibri"/>
              </a:rPr>
              <a:t>Amenazas</a:t>
            </a:r>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Resistencia al cambio.</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Pérdida o robo de celulares.</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Acceso no autorizado a datos de menores.</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Falta de mantenimiento futuro.</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Límites de las herramientas gratuitas.</a:t>
            </a:r>
            <a:endParaRPr sz="1800">
              <a:solidFill>
                <a:schemeClr val="dk1"/>
              </a:solidFill>
              <a:latin typeface="Calibri"/>
              <a:ea typeface="Calibri"/>
              <a:cs typeface="Calibri"/>
              <a:sym typeface="Calibri"/>
            </a:endParaRPr>
          </a:p>
        </p:txBody>
      </p:sp>
      <p:sp>
        <p:nvSpPr>
          <p:cNvPr id="193" name="Google Shape;193;p18"/>
          <p:cNvSpPr txBox="1"/>
          <p:nvPr/>
        </p:nvSpPr>
        <p:spPr>
          <a:xfrm>
            <a:off x="68050" y="3603725"/>
            <a:ext cx="3904500" cy="2862900"/>
          </a:xfrm>
          <a:prstGeom prst="rect">
            <a:avLst/>
          </a:prstGeom>
          <a:solidFill>
            <a:srgbClr val="C4E0B2"/>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800">
                <a:solidFill>
                  <a:schemeClr val="dk1"/>
                </a:solidFill>
                <a:latin typeface="Calibri"/>
                <a:ea typeface="Calibri"/>
                <a:cs typeface="Calibri"/>
                <a:sym typeface="Calibri"/>
              </a:rPr>
              <a:t>Oportunidades</a:t>
            </a:r>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Centralizar la información actual.</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Consultar asistencia por chico, grupo y fecha.</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Mejorar el seguimiento de los participantes.</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Incorporar nuevos grupos en el futuro.</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Replicar la solución en otras organizaciones.</a:t>
            </a:r>
            <a:endParaRPr sz="1800">
              <a:solidFill>
                <a:schemeClr val="dk1"/>
              </a:solidFill>
              <a:latin typeface="Calibri"/>
              <a:ea typeface="Calibri"/>
              <a:cs typeface="Calibri"/>
              <a:sym typeface="Calibri"/>
            </a:endParaRPr>
          </a:p>
        </p:txBody>
      </p:sp>
      <p:sp>
        <p:nvSpPr>
          <p:cNvPr id="194" name="Google Shape;194;p18"/>
          <p:cNvSpPr txBox="1"/>
          <p:nvPr/>
        </p:nvSpPr>
        <p:spPr>
          <a:xfrm>
            <a:off x="7576325" y="1309800"/>
            <a:ext cx="4388700" cy="2862900"/>
          </a:xfrm>
          <a:prstGeom prst="rect">
            <a:avLst/>
          </a:prstGeom>
          <a:solidFill>
            <a:srgbClr val="CCCC00"/>
          </a:solid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AR" sz="1800">
                <a:solidFill>
                  <a:schemeClr val="dk1"/>
                </a:solidFill>
                <a:latin typeface="Calibri"/>
                <a:ea typeface="Calibri"/>
                <a:cs typeface="Calibri"/>
                <a:sym typeface="Calibri"/>
              </a:rPr>
              <a:t>Debilidades</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No conocen la cantidad exacta de participantes.</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Los registros en papel están incompletos.</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No hay conexión durante los ensayos.</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Se utilizarán celulares personales.</a:t>
            </a:r>
            <a:endParaRPr sz="1800">
              <a:solidFill>
                <a:schemeClr val="dk1"/>
              </a:solidFill>
              <a:latin typeface="Calibri"/>
              <a:ea typeface="Calibri"/>
              <a:cs typeface="Calibri"/>
              <a:sym typeface="Calibri"/>
            </a:endParaRPr>
          </a:p>
          <a:p>
            <a:pPr marL="457200" lvl="0" indent="-342900" algn="l" rtl="0">
              <a:spcBef>
                <a:spcPts val="0"/>
              </a:spcBef>
              <a:spcAft>
                <a:spcPts val="0"/>
              </a:spcAft>
              <a:buClr>
                <a:schemeClr val="dk1"/>
              </a:buClr>
              <a:buSzPts val="1800"/>
              <a:buFont typeface="Calibri"/>
              <a:buChar char="●"/>
            </a:pPr>
            <a:r>
              <a:rPr lang="es-AR" sz="1800">
                <a:solidFill>
                  <a:schemeClr val="dk1"/>
                </a:solidFill>
                <a:latin typeface="Calibri"/>
                <a:ea typeface="Calibri"/>
                <a:cs typeface="Calibri"/>
                <a:sym typeface="Calibri"/>
              </a:rPr>
              <a:t>Algunos permisos y responsables todavía no están definidos.</a:t>
            </a:r>
            <a:endParaRPr sz="1800">
              <a:solidFill>
                <a:schemeClr val="dk1"/>
              </a:solidFill>
              <a:latin typeface="Calibri"/>
              <a:ea typeface="Calibri"/>
              <a:cs typeface="Calibri"/>
              <a:sym typeface="Calibri"/>
            </a:endParaRPr>
          </a:p>
          <a:p>
            <a:pPr marL="45720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95" name="Google Shape;195;p18"/>
          <p:cNvSpPr/>
          <p:nvPr/>
        </p:nvSpPr>
        <p:spPr>
          <a:xfrm>
            <a:off x="4343500" y="3174725"/>
            <a:ext cx="3111000" cy="2785500"/>
          </a:xfrm>
          <a:prstGeom prst="ellipse">
            <a:avLst/>
          </a:prstGeom>
          <a:solidFill>
            <a:schemeClr val="accent1"/>
          </a:solidFill>
          <a:ln w="12700" cap="flat" cmpd="sng">
            <a:solidFill>
              <a:srgbClr val="42719B"/>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6" name="Google Shape;196;p18"/>
          <p:cNvSpPr/>
          <p:nvPr/>
        </p:nvSpPr>
        <p:spPr>
          <a:xfrm>
            <a:off x="4701669" y="3491800"/>
            <a:ext cx="2429911" cy="2033940"/>
          </a:xfrm>
          <a:prstGeom prst="ellipse">
            <a:avLst/>
          </a:prstGeom>
          <a:solidFill>
            <a:schemeClr val="lt1"/>
          </a:solidFill>
          <a:ln w="12700" cap="flat" cmpd="sng">
            <a:solidFill>
              <a:srgbClr val="42719B"/>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1800">
                <a:solidFill>
                  <a:srgbClr val="002060"/>
                </a:solidFill>
                <a:latin typeface="Calibri"/>
                <a:ea typeface="Calibri"/>
                <a:cs typeface="Calibri"/>
                <a:sym typeface="Calibri"/>
              </a:rPr>
              <a:t>FODA</a:t>
            </a:r>
            <a:endParaRPr/>
          </a:p>
        </p:txBody>
      </p:sp>
      <p:sp>
        <p:nvSpPr>
          <p:cNvPr id="197" name="Google Shape;197;p18"/>
          <p:cNvSpPr/>
          <p:nvPr/>
        </p:nvSpPr>
        <p:spPr>
          <a:xfrm>
            <a:off x="10545525" y="27225"/>
            <a:ext cx="1494000" cy="586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198" name="Google Shape;198;p18" title="Captura de pantalla 2026-08-09 a la(s) 6.17.13 p. m..png"/>
          <p:cNvPicPr preferRelativeResize="0"/>
          <p:nvPr/>
        </p:nvPicPr>
        <p:blipFill>
          <a:blip r:embed="rId3">
            <a:alphaModFix/>
          </a:blip>
          <a:stretch>
            <a:fillRect/>
          </a:stretch>
        </p:blipFill>
        <p:spPr>
          <a:xfrm>
            <a:off x="10865026" y="85376"/>
            <a:ext cx="870925" cy="1013435"/>
          </a:xfrm>
          <a:prstGeom prst="rect">
            <a:avLst/>
          </a:prstGeom>
          <a:noFill/>
          <a:ln>
            <a:noFill/>
          </a:ln>
        </p:spPr>
      </p:pic>
      <p:sp>
        <p:nvSpPr>
          <p:cNvPr id="199" name="Google Shape;199;p18"/>
          <p:cNvSpPr txBox="1"/>
          <p:nvPr/>
        </p:nvSpPr>
        <p:spPr>
          <a:xfrm>
            <a:off x="871100" y="304688"/>
            <a:ext cx="60702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AR" sz="4400" b="1">
                <a:solidFill>
                  <a:srgbClr val="0231B3"/>
                </a:solidFill>
                <a:latin typeface="Calibri"/>
                <a:ea typeface="Calibri"/>
                <a:cs typeface="Calibri"/>
                <a:sym typeface="Calibri"/>
              </a:rPr>
              <a:t>Análisis FODA</a:t>
            </a:r>
            <a:endParaRPr sz="4400" b="1">
              <a:solidFill>
                <a:srgbClr val="0231B3"/>
              </a:solidFill>
              <a:latin typeface="Calibri"/>
              <a:ea typeface="Calibri"/>
              <a:cs typeface="Calibri"/>
              <a:sym typeface="Calibri"/>
            </a:endParaRPr>
          </a:p>
        </p:txBody>
      </p:sp>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9"/>
          <p:cNvSpPr txBox="1">
            <a:spLocks noGrp="1"/>
          </p:cNvSpPr>
          <p:nvPr>
            <p:ph type="title"/>
          </p:nvPr>
        </p:nvSpPr>
        <p:spPr>
          <a:xfrm>
            <a:off x="695587" y="652941"/>
            <a:ext cx="10515600" cy="40526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AEEF"/>
              </a:buClr>
              <a:buSzPct val="100000"/>
              <a:buFont typeface="Calibri"/>
              <a:buNone/>
            </a:pPr>
            <a:r>
              <a:rPr lang="es-AR">
                <a:solidFill>
                  <a:srgbClr val="0231B3"/>
                </a:solidFill>
              </a:rPr>
              <a:t>Políticas – Procedimientos - Mapa de Procesos</a:t>
            </a:r>
            <a:endParaRPr>
              <a:solidFill>
                <a:srgbClr val="0231B3"/>
              </a:solidFill>
            </a:endParaRPr>
          </a:p>
        </p:txBody>
      </p:sp>
      <p:sp>
        <p:nvSpPr>
          <p:cNvPr id="205" name="Google Shape;205;p19"/>
          <p:cNvSpPr/>
          <p:nvPr/>
        </p:nvSpPr>
        <p:spPr>
          <a:xfrm>
            <a:off x="695575" y="1338700"/>
            <a:ext cx="11176500" cy="6462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s-AR" sz="1800">
                <a:solidFill>
                  <a:schemeClr val="dk1"/>
                </a:solidFill>
                <a:latin typeface="Calibri"/>
                <a:ea typeface="Calibri"/>
                <a:cs typeface="Calibri"/>
                <a:sym typeface="Calibri"/>
              </a:rPr>
              <a:t>Para planificar y representar visualmente los flujos de trabajo y procesos de la organización se utilizó la técnica de </a:t>
            </a:r>
            <a:r>
              <a:rPr lang="es-AR" sz="1800" b="1">
                <a:solidFill>
                  <a:schemeClr val="dk1"/>
                </a:solidFill>
                <a:latin typeface="Calibri"/>
                <a:ea typeface="Calibri"/>
                <a:cs typeface="Calibri"/>
                <a:sym typeface="Calibri"/>
              </a:rPr>
              <a:t>mapeo de procesos</a:t>
            </a:r>
            <a:r>
              <a:rPr lang="es-AR" sz="1800">
                <a:solidFill>
                  <a:schemeClr val="dk1"/>
                </a:solidFill>
                <a:latin typeface="Calibri"/>
                <a:ea typeface="Calibri"/>
                <a:cs typeface="Calibri"/>
                <a:sym typeface="Calibri"/>
              </a:rPr>
              <a:t>. Los procesos fueron clasificados en tres categorías: </a:t>
            </a:r>
            <a:r>
              <a:rPr lang="es-AR" sz="1800" b="1">
                <a:solidFill>
                  <a:schemeClr val="dk1"/>
                </a:solidFill>
                <a:latin typeface="Calibri"/>
                <a:ea typeface="Calibri"/>
                <a:cs typeface="Calibri"/>
                <a:sym typeface="Calibri"/>
              </a:rPr>
              <a:t>procesos estratégicos, procesos operativos y procesos de apoyo</a:t>
            </a:r>
            <a:r>
              <a:rPr lang="es-AR"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rgbClr val="040C28"/>
              </a:solidFill>
              <a:latin typeface="Google Sans"/>
              <a:ea typeface="Google Sans"/>
              <a:cs typeface="Google Sans"/>
              <a:sym typeface="Google Sans"/>
            </a:endParaRPr>
          </a:p>
        </p:txBody>
      </p:sp>
      <p:sp>
        <p:nvSpPr>
          <p:cNvPr id="206" name="Google Shape;206;p19"/>
          <p:cNvSpPr/>
          <p:nvPr/>
        </p:nvSpPr>
        <p:spPr>
          <a:xfrm>
            <a:off x="10545525" y="27225"/>
            <a:ext cx="1494000" cy="586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07" name="Google Shape;207;p19" title="Captura de pantalla 2026-08-09 a la(s) 6.17.13 p. m..png"/>
          <p:cNvPicPr preferRelativeResize="0"/>
          <p:nvPr/>
        </p:nvPicPr>
        <p:blipFill>
          <a:blip r:embed="rId3">
            <a:alphaModFix/>
          </a:blip>
          <a:stretch>
            <a:fillRect/>
          </a:stretch>
        </p:blipFill>
        <p:spPr>
          <a:xfrm>
            <a:off x="10865026" y="71981"/>
            <a:ext cx="870925" cy="1013435"/>
          </a:xfrm>
          <a:prstGeom prst="rect">
            <a:avLst/>
          </a:prstGeom>
          <a:noFill/>
          <a:ln>
            <a:noFill/>
          </a:ln>
        </p:spPr>
      </p:pic>
      <p:pic>
        <p:nvPicPr>
          <p:cNvPr id="208" name="Google Shape;208;p19"/>
          <p:cNvPicPr preferRelativeResize="0"/>
          <p:nvPr/>
        </p:nvPicPr>
        <p:blipFill>
          <a:blip r:embed="rId4">
            <a:alphaModFix/>
          </a:blip>
          <a:stretch>
            <a:fillRect/>
          </a:stretch>
        </p:blipFill>
        <p:spPr>
          <a:xfrm>
            <a:off x="1643100" y="2472600"/>
            <a:ext cx="8905799" cy="4115750"/>
          </a:xfrm>
          <a:prstGeom prst="rect">
            <a:avLst/>
          </a:prstGeom>
          <a:noFill/>
          <a:ln>
            <a:noFill/>
          </a:ln>
        </p:spPr>
      </p:pic>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0"/>
          <p:cNvSpPr txBox="1">
            <a:spLocks noGrp="1"/>
          </p:cNvSpPr>
          <p:nvPr>
            <p:ph type="title"/>
          </p:nvPr>
        </p:nvSpPr>
        <p:spPr>
          <a:xfrm>
            <a:off x="695587" y="652941"/>
            <a:ext cx="10515600" cy="40526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AEEF"/>
              </a:buClr>
              <a:buSzPct val="100000"/>
              <a:buFont typeface="Calibri"/>
              <a:buNone/>
            </a:pPr>
            <a:r>
              <a:rPr lang="es-AR">
                <a:solidFill>
                  <a:srgbClr val="0231B3"/>
                </a:solidFill>
              </a:rPr>
              <a:t>ORGANIGRAMA</a:t>
            </a:r>
            <a:endParaRPr>
              <a:solidFill>
                <a:srgbClr val="0231B3"/>
              </a:solidFill>
            </a:endParaRPr>
          </a:p>
        </p:txBody>
      </p:sp>
      <p:sp>
        <p:nvSpPr>
          <p:cNvPr id="214" name="Google Shape;214;p20"/>
          <p:cNvSpPr/>
          <p:nvPr/>
        </p:nvSpPr>
        <p:spPr>
          <a:xfrm>
            <a:off x="10545525" y="27225"/>
            <a:ext cx="1494000" cy="586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15" name="Google Shape;215;p20" title="Captura de pantalla 2026-08-09 a la(s) 6.17.13 p. m..png"/>
          <p:cNvPicPr preferRelativeResize="0"/>
          <p:nvPr/>
        </p:nvPicPr>
        <p:blipFill>
          <a:blip r:embed="rId3">
            <a:alphaModFix/>
          </a:blip>
          <a:stretch>
            <a:fillRect/>
          </a:stretch>
        </p:blipFill>
        <p:spPr>
          <a:xfrm>
            <a:off x="10865026" y="85376"/>
            <a:ext cx="870925" cy="1013435"/>
          </a:xfrm>
          <a:prstGeom prst="rect">
            <a:avLst/>
          </a:prstGeom>
          <a:noFill/>
          <a:ln>
            <a:noFill/>
          </a:ln>
        </p:spPr>
      </p:pic>
      <p:sp>
        <p:nvSpPr>
          <p:cNvPr id="216" name="Google Shape;216;p20"/>
          <p:cNvSpPr txBox="1"/>
          <p:nvPr/>
        </p:nvSpPr>
        <p:spPr>
          <a:xfrm>
            <a:off x="273000" y="5206375"/>
            <a:ext cx="11646000" cy="2603400"/>
          </a:xfrm>
          <a:prstGeom prst="rect">
            <a:avLst/>
          </a:prstGeom>
          <a:noFill/>
          <a:ln>
            <a:noFill/>
          </a:ln>
        </p:spPr>
        <p:txBody>
          <a:bodyPr spcFirstLastPara="1" wrap="square" lIns="91425" tIns="91425" rIns="91425" bIns="91425" anchor="t" anchorCtr="0">
            <a:noAutofit/>
          </a:bodyPr>
          <a:lstStyle/>
          <a:p>
            <a:pPr marL="0" lvl="0" indent="0" algn="l" rtl="0">
              <a:lnSpc>
                <a:spcPct val="125000"/>
              </a:lnSpc>
              <a:spcBef>
                <a:spcPts val="0"/>
              </a:spcBef>
              <a:spcAft>
                <a:spcPts val="0"/>
              </a:spcAft>
              <a:buClr>
                <a:srgbClr val="2C2C2A"/>
              </a:buClr>
              <a:buSzPts val="1100"/>
              <a:buFont typeface="Arial"/>
              <a:buNone/>
            </a:pPr>
            <a:r>
              <a:rPr lang="es-AR" sz="1600">
                <a:solidFill>
                  <a:srgbClr val="2C2C2A"/>
                </a:solidFill>
              </a:rPr>
              <a:t>La organización presenta una estructura funcional: sus integrantes se distribuyen según las funciones que desempeñan dentro de la ONG. A excepción de la Directora y los Directores del Equipo Artístico, todos los integrantes participan en carácter voluntario. El Equipo de Proyecto (Equipo 02 – UADE) acompaña a la organización como equipo externo durante el desarrollo de la solución de gestión y asistencia, reportando a la Directora y coordinando con el Equipo Artístico y las “Madres”, principales usuarios del sistema.</a:t>
            </a:r>
            <a:endParaRPr sz="2300">
              <a:solidFill>
                <a:schemeClr val="dk1"/>
              </a:solidFill>
              <a:latin typeface="Calibri"/>
              <a:ea typeface="Calibri"/>
              <a:cs typeface="Calibri"/>
              <a:sym typeface="Calibri"/>
            </a:endParaRPr>
          </a:p>
          <a:p>
            <a:pPr marL="0" lvl="0" indent="0" algn="l" rtl="0">
              <a:spcBef>
                <a:spcPts val="0"/>
              </a:spcBef>
              <a:spcAft>
                <a:spcPts val="0"/>
              </a:spcAft>
              <a:buNone/>
            </a:pPr>
            <a:endParaRPr sz="2800">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0AD45387-CB40-78BB-226D-6541DE388FCC}"/>
              </a:ext>
            </a:extLst>
          </p:cNvPr>
          <p:cNvPicPr>
            <a:picLocks noChangeAspect="1"/>
          </p:cNvPicPr>
          <p:nvPr/>
        </p:nvPicPr>
        <p:blipFill>
          <a:blip r:embed="rId4"/>
          <a:stretch>
            <a:fillRect/>
          </a:stretch>
        </p:blipFill>
        <p:spPr>
          <a:xfrm>
            <a:off x="1201499" y="1483474"/>
            <a:ext cx="9803381" cy="3517241"/>
          </a:xfrm>
          <a:prstGeom prst="rect">
            <a:avLst/>
          </a:prstGeom>
        </p:spPr>
      </p:pic>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AEEF"/>
              </a:buClr>
              <a:buSzPts val="4000"/>
              <a:buFont typeface="Calibri"/>
              <a:buNone/>
            </a:pPr>
            <a:r>
              <a:rPr lang="es-AR" sz="4000" b="1">
                <a:solidFill>
                  <a:srgbClr val="0231B3"/>
                </a:solidFill>
              </a:rPr>
              <a:t>Mapa de Aplicaciones </a:t>
            </a:r>
            <a:endParaRPr>
              <a:solidFill>
                <a:srgbClr val="0231B3"/>
              </a:solidFill>
            </a:endParaRPr>
          </a:p>
        </p:txBody>
      </p:sp>
      <p:sp>
        <p:nvSpPr>
          <p:cNvPr id="223" name="Google Shape;223;p21"/>
          <p:cNvSpPr/>
          <p:nvPr/>
        </p:nvSpPr>
        <p:spPr>
          <a:xfrm>
            <a:off x="838200" y="1531023"/>
            <a:ext cx="10458600" cy="7494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s-AR" sz="1500">
                <a:solidFill>
                  <a:srgbClr val="282C33"/>
                </a:solidFill>
              </a:rPr>
              <a:t>El sistema es uno muy simple, compuesto nada más por la aplicación de registro de asistencia y la base de datos que almacena la cantidad, estado (presente/ausente) de los alumnos y el coro al cual pertenecen.</a:t>
            </a:r>
            <a:endParaRPr sz="1500">
              <a:solidFill>
                <a:srgbClr val="282C33"/>
              </a:solidFill>
              <a:latin typeface="Arial"/>
              <a:ea typeface="Arial"/>
              <a:cs typeface="Arial"/>
              <a:sym typeface="Arial"/>
            </a:endParaRPr>
          </a:p>
        </p:txBody>
      </p:sp>
      <p:pic>
        <p:nvPicPr>
          <p:cNvPr id="224" name="Google Shape;224;p21" title="Captura de pantalla 2026-08-09 a la(s) 6.17.13 p. m..png"/>
          <p:cNvPicPr preferRelativeResize="0"/>
          <p:nvPr/>
        </p:nvPicPr>
        <p:blipFill>
          <a:blip r:embed="rId3">
            <a:alphaModFix/>
          </a:blip>
          <a:stretch>
            <a:fillRect/>
          </a:stretch>
        </p:blipFill>
        <p:spPr>
          <a:xfrm>
            <a:off x="10865026" y="85376"/>
            <a:ext cx="870925" cy="1013435"/>
          </a:xfrm>
          <a:prstGeom prst="rect">
            <a:avLst/>
          </a:prstGeom>
          <a:noFill/>
          <a:ln>
            <a:noFill/>
          </a:ln>
        </p:spPr>
      </p:pic>
      <p:sp>
        <p:nvSpPr>
          <p:cNvPr id="225" name="Google Shape;225;p21"/>
          <p:cNvSpPr/>
          <p:nvPr/>
        </p:nvSpPr>
        <p:spPr>
          <a:xfrm>
            <a:off x="4494825" y="2494738"/>
            <a:ext cx="2705700" cy="52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AR" sz="1500">
                <a:latin typeface="Calibri"/>
                <a:ea typeface="Calibri"/>
                <a:cs typeface="Calibri"/>
                <a:sym typeface="Calibri"/>
              </a:rPr>
              <a:t>Aplicación móvil de registro de asistencia</a:t>
            </a:r>
            <a:endParaRPr sz="1500">
              <a:latin typeface="Calibri"/>
              <a:ea typeface="Calibri"/>
              <a:cs typeface="Calibri"/>
              <a:sym typeface="Calibri"/>
            </a:endParaRPr>
          </a:p>
        </p:txBody>
      </p:sp>
      <p:sp>
        <p:nvSpPr>
          <p:cNvPr id="226" name="Google Shape;226;p21"/>
          <p:cNvSpPr/>
          <p:nvPr/>
        </p:nvSpPr>
        <p:spPr>
          <a:xfrm>
            <a:off x="4494825" y="4101988"/>
            <a:ext cx="2705700" cy="52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AR" sz="1500">
                <a:latin typeface="Calibri"/>
                <a:ea typeface="Calibri"/>
                <a:cs typeface="Calibri"/>
                <a:sym typeface="Calibri"/>
              </a:rPr>
              <a:t>Base de datos</a:t>
            </a:r>
            <a:endParaRPr sz="1500">
              <a:latin typeface="Calibri"/>
              <a:ea typeface="Calibri"/>
              <a:cs typeface="Calibri"/>
              <a:sym typeface="Calibri"/>
            </a:endParaRPr>
          </a:p>
        </p:txBody>
      </p:sp>
      <p:sp>
        <p:nvSpPr>
          <p:cNvPr id="227" name="Google Shape;227;p21"/>
          <p:cNvSpPr txBox="1"/>
          <p:nvPr/>
        </p:nvSpPr>
        <p:spPr>
          <a:xfrm>
            <a:off x="5901275" y="3305563"/>
            <a:ext cx="34326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1500">
                <a:solidFill>
                  <a:schemeClr val="dk1"/>
                </a:solidFill>
                <a:latin typeface="Calibri"/>
                <a:ea typeface="Calibri"/>
                <a:cs typeface="Calibri"/>
                <a:sym typeface="Calibri"/>
              </a:rPr>
              <a:t>Sincronización de datos</a:t>
            </a:r>
            <a:endParaRPr sz="1500">
              <a:solidFill>
                <a:schemeClr val="dk1"/>
              </a:solidFill>
              <a:latin typeface="Calibri"/>
              <a:ea typeface="Calibri"/>
              <a:cs typeface="Calibri"/>
              <a:sym typeface="Calibri"/>
            </a:endParaRPr>
          </a:p>
        </p:txBody>
      </p:sp>
      <p:sp>
        <p:nvSpPr>
          <p:cNvPr id="228" name="Google Shape;228;p21"/>
          <p:cNvSpPr/>
          <p:nvPr/>
        </p:nvSpPr>
        <p:spPr>
          <a:xfrm rot="5400000">
            <a:off x="5194800" y="3504613"/>
            <a:ext cx="1064700" cy="1098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29" name="Google Shape;229;p21"/>
          <p:cNvSpPr txBox="1"/>
          <p:nvPr/>
        </p:nvSpPr>
        <p:spPr>
          <a:xfrm>
            <a:off x="809700" y="5214200"/>
            <a:ext cx="10515600" cy="845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s-AR" sz="1300">
                <a:solidFill>
                  <a:srgbClr val="282C33"/>
                </a:solidFill>
              </a:rPr>
              <a:t>Busca dar una visión gestión integral de la información de aplicaciones y software que dan soporte a los procesos del negocio elegido con una mapa visual de sus aplicaciones y sus diferentes relaciones. En el caso de ser necesario también se puede definir los usuarios/áreas que acceden.</a:t>
            </a:r>
            <a:endParaRPr sz="1300">
              <a:solidFill>
                <a:srgbClr val="282C33"/>
              </a:solidFill>
            </a:endParaRPr>
          </a:p>
        </p:txBody>
      </p:sp>
      <p:sp>
        <p:nvSpPr>
          <p:cNvPr id="230" name="Google Shape;230;p21"/>
          <p:cNvSpPr/>
          <p:nvPr/>
        </p:nvSpPr>
        <p:spPr>
          <a:xfrm>
            <a:off x="667725" y="2541325"/>
            <a:ext cx="1663500" cy="33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AR">
                <a:solidFill>
                  <a:schemeClr val="dk1"/>
                </a:solidFill>
                <a:latin typeface="Calibri"/>
                <a:ea typeface="Calibri"/>
                <a:cs typeface="Calibri"/>
                <a:sym typeface="Calibri"/>
              </a:rPr>
              <a:t>Voluntarias</a:t>
            </a:r>
            <a:r>
              <a:rPr lang="es-AR" sz="1100">
                <a:solidFill>
                  <a:schemeClr val="dk1"/>
                </a:solidFill>
              </a:rPr>
              <a:t> </a:t>
            </a:r>
            <a:endParaRPr>
              <a:latin typeface="Calibri"/>
              <a:ea typeface="Calibri"/>
              <a:cs typeface="Calibri"/>
              <a:sym typeface="Calibri"/>
            </a:endParaRPr>
          </a:p>
        </p:txBody>
      </p:sp>
      <p:sp>
        <p:nvSpPr>
          <p:cNvPr id="231" name="Google Shape;231;p21"/>
          <p:cNvSpPr/>
          <p:nvPr/>
        </p:nvSpPr>
        <p:spPr>
          <a:xfrm rot="4767">
            <a:off x="2331224" y="4312626"/>
            <a:ext cx="2163602" cy="101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2" name="Google Shape;232;p21"/>
          <p:cNvSpPr/>
          <p:nvPr/>
        </p:nvSpPr>
        <p:spPr>
          <a:xfrm rot="-7106">
            <a:off x="2330823" y="2650089"/>
            <a:ext cx="2177105" cy="1173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3" name="Google Shape;233;p21"/>
          <p:cNvSpPr/>
          <p:nvPr/>
        </p:nvSpPr>
        <p:spPr>
          <a:xfrm>
            <a:off x="667725" y="4195450"/>
            <a:ext cx="1663500" cy="335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AR">
                <a:solidFill>
                  <a:schemeClr val="dk1"/>
                </a:solidFill>
                <a:latin typeface="Calibri"/>
                <a:ea typeface="Calibri"/>
                <a:cs typeface="Calibri"/>
                <a:sym typeface="Calibri"/>
              </a:rPr>
              <a:t>Directora</a:t>
            </a:r>
            <a:endParaRPr>
              <a:solidFill>
                <a:schemeClr val="dk1"/>
              </a:solidFill>
              <a:latin typeface="Calibri"/>
              <a:ea typeface="Calibri"/>
              <a:cs typeface="Calibri"/>
              <a:sym typeface="Calibri"/>
            </a:endParaRPr>
          </a:p>
        </p:txBody>
      </p:sp>
      <p:sp>
        <p:nvSpPr>
          <p:cNvPr id="234" name="Google Shape;234;p21"/>
          <p:cNvSpPr/>
          <p:nvPr/>
        </p:nvSpPr>
        <p:spPr>
          <a:xfrm rot="-1465046">
            <a:off x="2154752" y="3557226"/>
            <a:ext cx="2735246" cy="101498"/>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2"/>
          <p:cNvSpPr txBox="1">
            <a:spLocks noGrp="1"/>
          </p:cNvSpPr>
          <p:nvPr>
            <p:ph type="title"/>
          </p:nvPr>
        </p:nvSpPr>
        <p:spPr>
          <a:xfrm>
            <a:off x="552375" y="853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AEEF"/>
              </a:buClr>
              <a:buSzPts val="4000"/>
              <a:buFont typeface="Calibri"/>
              <a:buNone/>
            </a:pPr>
            <a:r>
              <a:rPr lang="es-AR" sz="4000" b="1">
                <a:solidFill>
                  <a:srgbClr val="0231B3"/>
                </a:solidFill>
              </a:rPr>
              <a:t>Infraestructura – Arquitectura IT</a:t>
            </a:r>
            <a:endParaRPr>
              <a:solidFill>
                <a:srgbClr val="0231B3"/>
              </a:solidFill>
            </a:endParaRPr>
          </a:p>
        </p:txBody>
      </p:sp>
      <p:pic>
        <p:nvPicPr>
          <p:cNvPr id="240" name="Google Shape;240;p22" title="Captura de pantalla 2026-08-09 a la(s) 6.17.13 p. m..png"/>
          <p:cNvPicPr preferRelativeResize="0"/>
          <p:nvPr/>
        </p:nvPicPr>
        <p:blipFill>
          <a:blip r:embed="rId3">
            <a:alphaModFix/>
          </a:blip>
          <a:stretch>
            <a:fillRect/>
          </a:stretch>
        </p:blipFill>
        <p:spPr>
          <a:xfrm>
            <a:off x="10865026" y="85376"/>
            <a:ext cx="870925" cy="1013435"/>
          </a:xfrm>
          <a:prstGeom prst="rect">
            <a:avLst/>
          </a:prstGeom>
          <a:noFill/>
          <a:ln>
            <a:noFill/>
          </a:ln>
        </p:spPr>
      </p:pic>
      <p:sp>
        <p:nvSpPr>
          <p:cNvPr id="241" name="Google Shape;241;p22"/>
          <p:cNvSpPr/>
          <p:nvPr/>
        </p:nvSpPr>
        <p:spPr>
          <a:xfrm>
            <a:off x="552375" y="1317850"/>
            <a:ext cx="10875300" cy="19071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s-AR" sz="1800">
                <a:solidFill>
                  <a:schemeClr val="dk1"/>
                </a:solidFill>
                <a:latin typeface="Calibri"/>
                <a:ea typeface="Calibri"/>
                <a:cs typeface="Calibri"/>
                <a:sym typeface="Calibri"/>
              </a:rPr>
              <a:t>La solución deberá contar con un enfoque offline-first, debido a que las sedes donde se realizan las actividades no disponen de conexión estable a internet. Los usuarios autorizados utilizarán sus celulares para registrar la asistencia, incluso sin conexión.</a:t>
            </a:r>
            <a:endParaRPr sz="1800">
              <a:solidFill>
                <a:schemeClr val="dk1"/>
              </a:solidFill>
              <a:latin typeface="Calibri"/>
              <a:ea typeface="Calibri"/>
              <a:cs typeface="Calibri"/>
              <a:sym typeface="Calibri"/>
            </a:endParaRPr>
          </a:p>
          <a:p>
            <a:pPr marL="0" marR="0" lvl="0" indent="0" algn="l" rtl="0">
              <a:lnSpc>
                <a:spcPct val="115000"/>
              </a:lnSpc>
              <a:spcBef>
                <a:spcPts val="0"/>
              </a:spcBef>
              <a:spcAft>
                <a:spcPts val="0"/>
              </a:spcAft>
              <a:buNone/>
            </a:pPr>
            <a:r>
              <a:rPr lang="es-AR" sz="1800">
                <a:solidFill>
                  <a:schemeClr val="dk1"/>
                </a:solidFill>
                <a:latin typeface="Calibri"/>
                <a:ea typeface="Calibri"/>
                <a:cs typeface="Calibri"/>
                <a:sym typeface="Calibri"/>
              </a:rPr>
              <a:t>La información quedará almacenada temporalmente en el dispositivo y se sincronizará con una base de datos central cuando vuelva a haber conexión a internet. La solución deberá ser sencilla, consumir pocos recursos y permitir administrar participantes, coros, sedes y asistencias desde dispositivos móviles. Las tecnologías específicas se definirán después de evaluar su viabilidad técnica y los límites de las alternativas gratuitas.</a:t>
            </a:r>
            <a:endParaRPr sz="1800">
              <a:solidFill>
                <a:schemeClr val="dk1"/>
              </a:solidFill>
              <a:latin typeface="Calibri"/>
              <a:ea typeface="Calibri"/>
              <a:cs typeface="Calibri"/>
              <a:sym typeface="Calibri"/>
            </a:endParaRPr>
          </a:p>
          <a:p>
            <a:pPr marL="0" marR="0" lvl="0" indent="0" algn="just" rtl="0">
              <a:spcBef>
                <a:spcPts val="0"/>
              </a:spcBef>
              <a:spcAft>
                <a:spcPts val="0"/>
              </a:spcAft>
              <a:buNone/>
            </a:pPr>
            <a:endParaRPr sz="1800">
              <a:solidFill>
                <a:srgbClr val="282C33"/>
              </a:solidFill>
            </a:endParaRPr>
          </a:p>
        </p:txBody>
      </p:sp>
      <p:pic>
        <p:nvPicPr>
          <p:cNvPr id="242" name="Google Shape;242;p22"/>
          <p:cNvPicPr preferRelativeResize="0"/>
          <p:nvPr/>
        </p:nvPicPr>
        <p:blipFill>
          <a:blip r:embed="rId4">
            <a:alphaModFix/>
          </a:blip>
          <a:stretch>
            <a:fillRect/>
          </a:stretch>
        </p:blipFill>
        <p:spPr>
          <a:xfrm>
            <a:off x="152400" y="3999525"/>
            <a:ext cx="11887200" cy="16682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3"/>
          <p:cNvSpPr txBox="1">
            <a:spLocks noGrp="1"/>
          </p:cNvSpPr>
          <p:nvPr>
            <p:ph type="title"/>
          </p:nvPr>
        </p:nvSpPr>
        <p:spPr>
          <a:xfrm>
            <a:off x="695587" y="652941"/>
            <a:ext cx="10515600" cy="40526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AEEF"/>
              </a:buClr>
              <a:buSzPct val="100000"/>
              <a:buFont typeface="Calibri"/>
              <a:buNone/>
            </a:pPr>
            <a:r>
              <a:rPr lang="es-AR">
                <a:solidFill>
                  <a:srgbClr val="0231B3"/>
                </a:solidFill>
              </a:rPr>
              <a:t>Modelo de Datos</a:t>
            </a:r>
            <a:endParaRPr>
              <a:solidFill>
                <a:srgbClr val="0231B3"/>
              </a:solidFill>
            </a:endParaRPr>
          </a:p>
        </p:txBody>
      </p:sp>
      <p:sp>
        <p:nvSpPr>
          <p:cNvPr id="248" name="Google Shape;248;p23"/>
          <p:cNvSpPr/>
          <p:nvPr/>
        </p:nvSpPr>
        <p:spPr>
          <a:xfrm>
            <a:off x="779875" y="1251718"/>
            <a:ext cx="10872600" cy="6462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s-AR" sz="1800">
                <a:solidFill>
                  <a:srgbClr val="282C33"/>
                </a:solidFill>
              </a:rPr>
              <a:t>Tablas: Directores, Estudiantes, Madres, Jefes de cuerda, Grupos de coro, Eventos, Clases, Asistencia</a:t>
            </a:r>
            <a:endParaRPr sz="1800">
              <a:solidFill>
                <a:schemeClr val="dk1"/>
              </a:solidFill>
              <a:latin typeface="Calibri"/>
              <a:ea typeface="Calibri"/>
              <a:cs typeface="Calibri"/>
              <a:sym typeface="Calibri"/>
            </a:endParaRPr>
          </a:p>
        </p:txBody>
      </p:sp>
      <p:sp>
        <p:nvSpPr>
          <p:cNvPr id="249" name="Google Shape;249;p23"/>
          <p:cNvSpPr/>
          <p:nvPr/>
        </p:nvSpPr>
        <p:spPr>
          <a:xfrm>
            <a:off x="10545525" y="27225"/>
            <a:ext cx="1494000" cy="586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50" name="Google Shape;250;p23" title="Captura de pantalla 2026-08-09 a la(s) 6.17.13 p. m..png"/>
          <p:cNvPicPr preferRelativeResize="0"/>
          <p:nvPr/>
        </p:nvPicPr>
        <p:blipFill>
          <a:blip r:embed="rId3">
            <a:alphaModFix/>
          </a:blip>
          <a:stretch>
            <a:fillRect/>
          </a:stretch>
        </p:blipFill>
        <p:spPr>
          <a:xfrm>
            <a:off x="10865026" y="85376"/>
            <a:ext cx="870925" cy="1013435"/>
          </a:xfrm>
          <a:prstGeom prst="rect">
            <a:avLst/>
          </a:prstGeom>
          <a:noFill/>
          <a:ln>
            <a:noFill/>
          </a:ln>
        </p:spPr>
      </p:pic>
      <p:pic>
        <p:nvPicPr>
          <p:cNvPr id="251" name="Google Shape;251;p23" title="modelo_datos_coros.png"/>
          <p:cNvPicPr preferRelativeResize="0"/>
          <p:nvPr/>
        </p:nvPicPr>
        <p:blipFill>
          <a:blip r:embed="rId4">
            <a:alphaModFix/>
          </a:blip>
          <a:stretch>
            <a:fillRect/>
          </a:stretch>
        </p:blipFill>
        <p:spPr>
          <a:xfrm>
            <a:off x="2466949" y="1613425"/>
            <a:ext cx="6972851" cy="5127951"/>
          </a:xfrm>
          <a:prstGeom prst="rect">
            <a:avLst/>
          </a:prstGeom>
          <a:noFill/>
          <a:ln>
            <a:noFill/>
          </a:ln>
        </p:spPr>
      </p:pic>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4"/>
          <p:cNvSpPr txBox="1">
            <a:spLocks noGrp="1"/>
          </p:cNvSpPr>
          <p:nvPr>
            <p:ph type="title"/>
          </p:nvPr>
        </p:nvSpPr>
        <p:spPr>
          <a:xfrm>
            <a:off x="695587" y="484216"/>
            <a:ext cx="10515600" cy="4053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AEEF"/>
              </a:buClr>
              <a:buSzPct val="100000"/>
              <a:buFont typeface="Calibri"/>
              <a:buNone/>
            </a:pPr>
            <a:r>
              <a:rPr lang="es-AR">
                <a:solidFill>
                  <a:srgbClr val="0231B3"/>
                </a:solidFill>
              </a:rPr>
              <a:t>Diagrama de Contexto</a:t>
            </a:r>
            <a:endParaRPr>
              <a:solidFill>
                <a:srgbClr val="0231B3"/>
              </a:solidFill>
            </a:endParaRPr>
          </a:p>
        </p:txBody>
      </p:sp>
      <p:sp>
        <p:nvSpPr>
          <p:cNvPr id="257" name="Google Shape;257;p24"/>
          <p:cNvSpPr/>
          <p:nvPr/>
        </p:nvSpPr>
        <p:spPr>
          <a:xfrm>
            <a:off x="652372" y="1302837"/>
            <a:ext cx="10602000" cy="6462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s-AR" sz="1600">
                <a:solidFill>
                  <a:srgbClr val="4D5156"/>
                </a:solidFill>
              </a:rPr>
              <a:t>Este diagrama representa una vista de alto nivel del Sistema de Gestión de Sembrar Cantando. Muestra las principales entidades que interactúan con el sistema, como el equipo artístico, las familias, madres, donantes, directora y redes sociales, y las funciones que realizan, como registrar asistencia, gestionar inscripciones, administrar donaciones y becas y consultar reportes. </a:t>
            </a:r>
            <a:endParaRPr sz="1200"/>
          </a:p>
        </p:txBody>
      </p:sp>
      <p:sp>
        <p:nvSpPr>
          <p:cNvPr id="258" name="Google Shape;258;p24"/>
          <p:cNvSpPr/>
          <p:nvPr/>
        </p:nvSpPr>
        <p:spPr>
          <a:xfrm>
            <a:off x="10545525" y="27225"/>
            <a:ext cx="1494000" cy="586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59" name="Google Shape;259;p24" title="Captura de pantalla 2026-08-09 a la(s) 6.17.13 p. m..png"/>
          <p:cNvPicPr preferRelativeResize="0"/>
          <p:nvPr/>
        </p:nvPicPr>
        <p:blipFill>
          <a:blip r:embed="rId3">
            <a:alphaModFix/>
          </a:blip>
          <a:stretch>
            <a:fillRect/>
          </a:stretch>
        </p:blipFill>
        <p:spPr>
          <a:xfrm>
            <a:off x="10865026" y="85376"/>
            <a:ext cx="870925" cy="1013435"/>
          </a:xfrm>
          <a:prstGeom prst="rect">
            <a:avLst/>
          </a:prstGeom>
          <a:noFill/>
          <a:ln>
            <a:noFill/>
          </a:ln>
        </p:spPr>
      </p:pic>
      <p:pic>
        <p:nvPicPr>
          <p:cNvPr id="260" name="Google Shape;260;p24" title="Diagrama de contexto 2.drawio.png"/>
          <p:cNvPicPr preferRelativeResize="0"/>
          <p:nvPr/>
        </p:nvPicPr>
        <p:blipFill>
          <a:blip r:embed="rId4">
            <a:alphaModFix/>
          </a:blip>
          <a:stretch>
            <a:fillRect/>
          </a:stretch>
        </p:blipFill>
        <p:spPr>
          <a:xfrm>
            <a:off x="3425275" y="2465300"/>
            <a:ext cx="5341475" cy="4392700"/>
          </a:xfrm>
          <a:prstGeom prst="rect">
            <a:avLst/>
          </a:prstGeom>
          <a:noFill/>
          <a:ln>
            <a:noFill/>
          </a:ln>
        </p:spPr>
      </p:pic>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5"/>
          <p:cNvSpPr txBox="1"/>
          <p:nvPr/>
        </p:nvSpPr>
        <p:spPr>
          <a:xfrm>
            <a:off x="3369450" y="2284125"/>
            <a:ext cx="5453100" cy="30825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AEEF"/>
              </a:buClr>
              <a:buSzPts val="4400"/>
              <a:buFont typeface="Calibri"/>
              <a:buNone/>
            </a:pPr>
            <a:r>
              <a:rPr lang="es-AR" sz="6000" b="1">
                <a:solidFill>
                  <a:srgbClr val="0231B3"/>
                </a:solidFill>
                <a:latin typeface="Calibri"/>
                <a:ea typeface="Calibri"/>
                <a:cs typeface="Calibri"/>
                <a:sym typeface="Calibri"/>
              </a:rPr>
              <a:t>Cantar Presente</a:t>
            </a:r>
            <a:endParaRPr sz="6000">
              <a:solidFill>
                <a:srgbClr val="0231B3"/>
              </a:solidFill>
            </a:endParaRPr>
          </a:p>
        </p:txBody>
      </p:sp>
      <p:sp>
        <p:nvSpPr>
          <p:cNvPr id="266" name="Google Shape;266;p25"/>
          <p:cNvSpPr/>
          <p:nvPr/>
        </p:nvSpPr>
        <p:spPr>
          <a:xfrm>
            <a:off x="10545525" y="27225"/>
            <a:ext cx="1494000" cy="5865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67" name="Google Shape;267;p25" title="Captura de pantalla 2026-08-09 a la(s) 6.17.13 p. m..png"/>
          <p:cNvPicPr preferRelativeResize="0"/>
          <p:nvPr/>
        </p:nvPicPr>
        <p:blipFill>
          <a:blip r:embed="rId3">
            <a:alphaModFix/>
          </a:blip>
          <a:stretch>
            <a:fillRect/>
          </a:stretch>
        </p:blipFill>
        <p:spPr>
          <a:xfrm>
            <a:off x="10865026" y="85376"/>
            <a:ext cx="870925" cy="1013435"/>
          </a:xfrm>
          <a:prstGeom prst="rect">
            <a:avLst/>
          </a:prstGeom>
          <a:noFill/>
          <a:ln>
            <a:noFill/>
          </a:ln>
        </p:spPr>
      </p:pic>
    </p:spTree>
  </p:cSld>
  <p:clrMapOvr>
    <a:masterClrMapping/>
  </p:clrMapOvr>
  <p:transition spd="slow">
    <p:fade thruBlk="1"/>
  </p:transition>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744B2A616DCB747AC8546171A99E980" ma:contentTypeVersion="8" ma:contentTypeDescription="Crear nuevo documento." ma:contentTypeScope="" ma:versionID="0713511642eb888ec61abf7c73975964">
  <xsd:schema xmlns:xsd="http://www.w3.org/2001/XMLSchema" xmlns:xs="http://www.w3.org/2001/XMLSchema" xmlns:p="http://schemas.microsoft.com/office/2006/metadata/properties" xmlns:ns2="a36331dd-337c-4a56-8b23-956e4f05ea78" targetNamespace="http://schemas.microsoft.com/office/2006/metadata/properties" ma:root="true" ma:fieldsID="d7d49b84c7f1dc34308612191ac9eba3" ns2:_="">
    <xsd:import namespace="a36331dd-337c-4a56-8b23-956e4f05ea7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6331dd-337c-4a56-8b23-956e4f05ea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480f935f-056e-43d0-a9c3-6f0a0280ba7d"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36331dd-337c-4a56-8b23-956e4f05ea7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D6C5CFB-660D-45A0-8656-D60274FAA0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6331dd-337c-4a56-8b23-956e4f05ea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8D8DF1A-043F-4823-8465-37170C24261D}">
  <ds:schemaRefs>
    <ds:schemaRef ds:uri="http://schemas.microsoft.com/sharepoint/v3/contenttype/forms"/>
  </ds:schemaRefs>
</ds:datastoreItem>
</file>

<file path=customXml/itemProps3.xml><?xml version="1.0" encoding="utf-8"?>
<ds:datastoreItem xmlns:ds="http://schemas.openxmlformats.org/officeDocument/2006/customXml" ds:itemID="{125E4D42-1395-4B88-B488-ACD34553935A}">
  <ds:schemaRefs>
    <ds:schemaRef ds:uri="http://schemas.microsoft.com/office/2006/metadata/properties"/>
    <ds:schemaRef ds:uri="http://schemas.microsoft.com/office/infopath/2007/PartnerControls"/>
    <ds:schemaRef ds:uri="a36331dd-337c-4a56-8b23-956e4f05ea78"/>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13</Slides>
  <Notes>13</Notes>
  <HiddenSlides>0</HiddenSlides>
  <ScaleCrop>false</ScaleCrop>
  <HeadingPairs>
    <vt:vector size="4" baseType="variant">
      <vt:variant>
        <vt:lpstr>Tema</vt:lpstr>
      </vt:variant>
      <vt:variant>
        <vt:i4>1</vt:i4>
      </vt:variant>
      <vt:variant>
        <vt:lpstr>Títulos de diapositiva</vt:lpstr>
      </vt:variant>
      <vt:variant>
        <vt:i4>13</vt:i4>
      </vt:variant>
    </vt:vector>
  </HeadingPairs>
  <TitlesOfParts>
    <vt:vector size="14" baseType="lpstr">
      <vt:lpstr>Tema de Office</vt:lpstr>
      <vt:lpstr>SEMBRAR CANTANDO</vt:lpstr>
      <vt:lpstr>Presentación de PowerPoint</vt:lpstr>
      <vt:lpstr>Misión, Visión y Valores</vt:lpstr>
      <vt:lpstr>Plan de Negocio</vt:lpstr>
      <vt:lpstr>Reglas del Negocio</vt:lpstr>
      <vt:lpstr>Presentación de PowerPoint</vt:lpstr>
      <vt:lpstr>Políticas – Procedimientos - Mapa de Procesos</vt:lpstr>
      <vt:lpstr>ORGANIGRAMA</vt:lpstr>
      <vt:lpstr>Mapa de Aplicaciones </vt:lpstr>
      <vt:lpstr>Infraestructura – Arquitectura IT</vt:lpstr>
      <vt:lpstr>Modelo de Datos</vt:lpstr>
      <vt:lpstr>Diagrama de Contexto</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10</cp:revision>
  <dcterms:modified xsi:type="dcterms:W3CDTF">2026-09-09T18:11:07Z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0x0101008744B2A616DCB747AC8546171A99E980</vt:lpwstr>
  </property>
  <property fmtid="{D5CDD505-2E9C-101B-9397-08002B2CF9AE}" pid="3" name="MediaServiceImageTags">
    <vt:lpwstr/>
  </property>
</Properties>
</file>